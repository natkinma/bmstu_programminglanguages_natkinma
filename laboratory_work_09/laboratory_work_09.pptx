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1" r:id="rId3"/>
    <p:sldId id="292" r:id="rId4"/>
    <p:sldId id="257" r:id="rId5"/>
    <p:sldId id="294" r:id="rId6"/>
    <p:sldId id="297" r:id="rId7"/>
    <p:sldId id="295" r:id="rId8"/>
    <p:sldId id="296" r:id="rId9"/>
    <p:sldId id="299" r:id="rId10"/>
    <p:sldId id="298" r:id="rId11"/>
    <p:sldId id="259" r:id="rId12"/>
    <p:sldId id="260" r:id="rId13"/>
    <p:sldId id="263" r:id="rId14"/>
    <p:sldId id="264" r:id="rId15"/>
    <p:sldId id="265" r:id="rId16"/>
    <p:sldId id="267" r:id="rId17"/>
    <p:sldId id="266" r:id="rId18"/>
    <p:sldId id="268" r:id="rId19"/>
    <p:sldId id="300" r:id="rId20"/>
    <p:sldId id="270" r:id="rId21"/>
    <p:sldId id="306" r:id="rId22"/>
    <p:sldId id="261" r:id="rId23"/>
    <p:sldId id="302" r:id="rId24"/>
    <p:sldId id="303" r:id="rId25"/>
    <p:sldId id="274" r:id="rId26"/>
    <p:sldId id="275" r:id="rId27"/>
    <p:sldId id="304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012DD-0AF4-4423-BA7F-6602A4972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EB5395A-4FE3-4E04-B7EA-D8FEC629D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0A7200-55C4-4CA0-8FD5-CBC9B5EA9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D61-2015-4ECE-81BF-5AAE2FC88994}" type="datetimeFigureOut">
              <a:rPr lang="ru-RU" smtClean="0"/>
              <a:t>05.10.2019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46CAC3-DD8E-47F7-8A69-8F08B6FF6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47C3A9-F4C8-43D0-A9F9-74F7D3554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4520-268B-46BA-A2F0-EE8CEAEC4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941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8EF54E-8B9A-4950-8ED0-3808936CF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E83E18-4D28-4F34-AA6F-378E3DE15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C5DF84-A201-4787-9137-998A6C69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D61-2015-4ECE-81BF-5AAE2FC88994}" type="datetimeFigureOut">
              <a:rPr lang="ru-RU" smtClean="0"/>
              <a:t>05.10.2019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AE54B9-8839-492E-8B6D-EFB2D048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3484B5-B1F4-413D-8954-1D17C2CBC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4520-268B-46BA-A2F0-EE8CEAEC4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779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B1921A-0737-474D-9051-B63F5BBE9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6CF0299-7769-475B-B8A8-69574768E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3E19BF-FE12-48BC-A0F6-C61227D5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D61-2015-4ECE-81BF-5AAE2FC88994}" type="datetimeFigureOut">
              <a:rPr lang="ru-RU" smtClean="0"/>
              <a:t>05.10.2019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9538F4-9E0F-48D2-A74C-5262896F0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EBF6B5-2F01-435A-9BD0-AC8F83A82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4520-268B-46BA-A2F0-EE8CEAEC4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720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14C124-C67B-4D86-AC90-9B3B739A8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8D5C28-AA70-4CB4-8858-609CA9E7D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83FA44-3DB2-4CEB-B3E4-9250BEBB1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5FC31D-BECB-406B-8080-A4ADB03FE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D61-2015-4ECE-81BF-5AAE2FC88994}" type="datetimeFigureOut">
              <a:rPr lang="ru-RU" smtClean="0"/>
              <a:t>05.10.2019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884FC4-D435-4C77-93BA-7966340E4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8586B0-D3ED-4B20-96BB-6038AB1E9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4520-268B-46BA-A2F0-EE8CEAEC4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4382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6DEAE8-8F28-4FB9-B6DD-88ED6274A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56DDD4-659D-4CEF-9E54-98D0881D7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F4624D-9370-4644-A8F2-3A3756C0F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1B56789-9B6C-4771-8824-D372373C9B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95FAE57-774A-4BDF-A6F9-04F1B332AD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46F59F-5763-4EE8-8F3F-B70EC102A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D61-2015-4ECE-81BF-5AAE2FC88994}" type="datetimeFigureOut">
              <a:rPr lang="ru-RU" smtClean="0"/>
              <a:t>05.10.2019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FB88C74-8F14-4B99-A3D7-F5F58F7E0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FA3803E-2B90-4A1C-8A6A-064F0CE0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4520-268B-46BA-A2F0-EE8CEAEC4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3703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78076D-1CC0-4531-A6C7-279A35A12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2AF4C14-E5BB-48ED-A3B1-16D6C91B8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D61-2015-4ECE-81BF-5AAE2FC88994}" type="datetimeFigureOut">
              <a:rPr lang="ru-RU" smtClean="0"/>
              <a:t>05.10.2019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6096F7B-641B-4814-8248-2B3372588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E7CE5A2-D7AE-42B9-8FBD-BC1F19773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4520-268B-46BA-A2F0-EE8CEAEC4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583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3B2147D-6641-4685-9516-09805B429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D61-2015-4ECE-81BF-5AAE2FC88994}" type="datetimeFigureOut">
              <a:rPr lang="ru-RU" smtClean="0"/>
              <a:t>05.10.2019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39A866E-CA99-482B-958B-73E2CC2E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9CE5533-BFA1-4A67-94A7-07B95DCD8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4520-268B-46BA-A2F0-EE8CEAEC4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9149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932FD5-BD09-4A31-A29E-B60EE0E8F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7714ED-FAE3-46A4-958F-C5ACD514E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79A8B52-788F-4340-9491-28B4FB166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9D1999-CDFC-4CD0-BA6C-6C8DCC0E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D61-2015-4ECE-81BF-5AAE2FC88994}" type="datetimeFigureOut">
              <a:rPr lang="ru-RU" smtClean="0"/>
              <a:t>05.10.2019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C5A3C8E-A374-42A5-AFFC-2757AA0CC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FEBE6D4-C155-49C4-BE30-88C3F1BCB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4520-268B-46BA-A2F0-EE8CEAEC4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5783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5F4CC8-BCC4-4F08-835B-733A081EA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4246647-D590-4EE9-9140-DEC1082F33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BDB8220-468C-426D-ADC9-47BC046D9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D4AB31-4C39-4AFE-96B4-760A12965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D61-2015-4ECE-81BF-5AAE2FC88994}" type="datetimeFigureOut">
              <a:rPr lang="ru-RU" smtClean="0"/>
              <a:t>05.10.2019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206E5B-766E-4619-90F8-024CB412B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ED67E3-B9F0-485C-A59D-8153262AD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4520-268B-46BA-A2F0-EE8CEAEC4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200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DD2495-E544-4A58-9D36-73E3060BD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150DD95-EE01-41D2-9034-078BF72E6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F3C932-FBDC-4AE9-B42B-12ACB9C1F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D61-2015-4ECE-81BF-5AAE2FC88994}" type="datetimeFigureOut">
              <a:rPr lang="ru-RU" smtClean="0"/>
              <a:t>05.10.2019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8E2F8A-B181-466F-82C7-84972C471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B59D6D-7A50-46DB-91F5-EB58C7019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4520-268B-46BA-A2F0-EE8CEAEC4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2267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6AF33A4-1921-4E8E-9BB6-903ED5C3A4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992EB7A-B625-45CF-B7E2-7A328CE7C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8744B5-24A7-4F7D-9FA0-CF50F3250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6D61-2015-4ECE-81BF-5AAE2FC88994}" type="datetimeFigureOut">
              <a:rPr lang="ru-RU" smtClean="0"/>
              <a:t>05.10.2019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8CE12A-E984-4133-B9AB-183E66D5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1617DD1-06BC-443B-BC1C-F68D661C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4520-268B-46BA-A2F0-EE8CEAEC4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2528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CF80F-CA4D-4A11-A51A-83939E8A8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0DA2BD-D6A1-4A6A-9320-FC6E65ABC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9E3BCE-F572-483B-8AA9-A87E40E3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D6D61-2015-4ECE-81BF-5AAE2FC88994}" type="datetimeFigureOut">
              <a:rPr lang="ru-RU" smtClean="0"/>
              <a:t>05.10.2019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DB8CE6-AF7F-47FC-90EE-EE873AF11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910F66-03A0-4F04-8992-9F92B2B3A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D4520-268B-46BA-A2F0-EE8CEAEC4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0569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xegg.com/" TargetMode="External"/><Relationship Id="rId2" Type="http://schemas.openxmlformats.org/officeDocument/2006/relationships/hyperlink" Target="https://docs.python.org/3/library/r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abr.com/ru/post/349860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552242-4292-4765-B65F-658A2A181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8182" y="1122363"/>
            <a:ext cx="8589818" cy="1468437"/>
          </a:xfrm>
        </p:spPr>
        <p:txBody>
          <a:bodyPr/>
          <a:lstStyle/>
          <a:p>
            <a:r>
              <a:rPr lang="ru-RU" dirty="0"/>
              <a:t>Регулярные выражения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5F5090-E402-4A6E-85E5-49A18C713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5963" y="3429000"/>
            <a:ext cx="10806545" cy="1828800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ru-RU" sz="3200" dirty="0"/>
              <a:t>Язык регулярных выражений в </a:t>
            </a:r>
            <a:r>
              <a:rPr lang="en-US" sz="3200" dirty="0"/>
              <a:t>Python</a:t>
            </a:r>
          </a:p>
          <a:p>
            <a:pPr marL="457200" indent="-457200" algn="l">
              <a:buAutoNum type="arabicPeriod"/>
            </a:pPr>
            <a:r>
              <a:rPr lang="ru-RU" sz="3200" dirty="0"/>
              <a:t>Модуль для работы с регулярными выражениями</a:t>
            </a:r>
          </a:p>
          <a:p>
            <a:pPr marL="457200" indent="-45720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1002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04965F-41CB-47CB-A51A-5A4B6091B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Литература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6C6395-373E-4045-B342-FF4BB7E94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ru-RU" dirty="0"/>
              <a:t>Марк </a:t>
            </a:r>
            <a:r>
              <a:rPr lang="ru-RU" dirty="0" err="1"/>
              <a:t>Саммерфилд</a:t>
            </a:r>
            <a:r>
              <a:rPr lang="ru-RU" dirty="0"/>
              <a:t>. Программирование на </a:t>
            </a:r>
            <a:r>
              <a:rPr lang="en-US" dirty="0"/>
              <a:t>Python 3</a:t>
            </a:r>
            <a:r>
              <a:rPr lang="ru-RU" dirty="0"/>
              <a:t>. (С. 525-552)</a:t>
            </a:r>
          </a:p>
          <a:p>
            <a:pPr marL="514350" indent="-514350">
              <a:buAutoNum type="arabicPeriod"/>
            </a:pPr>
            <a:r>
              <a:rPr lang="en-US" dirty="0">
                <a:hlinkClick r:id="rId2"/>
              </a:rPr>
              <a:t>https://docs.python.org/3/library/re.html</a:t>
            </a:r>
            <a:endParaRPr lang="ru-RU" dirty="0"/>
          </a:p>
          <a:p>
            <a:pPr marL="514350" indent="-514350">
              <a:buAutoNum type="arabicPeriod"/>
            </a:pPr>
            <a:r>
              <a:rPr lang="en-US" dirty="0">
                <a:hlinkClick r:id="rId3"/>
              </a:rPr>
              <a:t>http://www.rexegg.com/</a:t>
            </a:r>
            <a:endParaRPr lang="ru-RU" dirty="0"/>
          </a:p>
          <a:p>
            <a:pPr marL="514350" indent="-514350">
              <a:buAutoNum type="arabicPeriod"/>
            </a:pPr>
            <a:r>
              <a:rPr lang="en-US" dirty="0">
                <a:hlinkClick r:id="rId4"/>
              </a:rPr>
              <a:t>https://habr.com/ru/post/349860/</a:t>
            </a:r>
            <a:endParaRPr lang="en-US" dirty="0"/>
          </a:p>
          <a:p>
            <a:pPr marL="514350" indent="-514350">
              <a:buAutoNum type="arabicPeriod"/>
            </a:pPr>
            <a:endParaRPr lang="ru-RU" dirty="0"/>
          </a:p>
          <a:p>
            <a:pPr marL="514350" indent="-51435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1397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0ED2A3-1AA5-404B-B232-FC8595213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7E5D2F-E8E0-4C9F-AB24-293E0F13F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ru-RU" b="1" dirty="0">
                <a:solidFill>
                  <a:srgbClr val="FF0000"/>
                </a:solidFill>
              </a:rPr>
              <a:t>Язык регулярных выражений в </a:t>
            </a:r>
            <a:r>
              <a:rPr lang="en-US" b="1" dirty="0">
                <a:solidFill>
                  <a:srgbClr val="FF0000"/>
                </a:solidFill>
              </a:rPr>
              <a:t>Python</a:t>
            </a:r>
          </a:p>
          <a:p>
            <a:pPr marL="457200" indent="-457200">
              <a:buAutoNum type="arabicPeriod"/>
            </a:pPr>
            <a:r>
              <a:rPr lang="ru-RU" dirty="0"/>
              <a:t>Модуль для работы с регулярными выражениями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4636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5629F0-B87B-47A9-BC75-47784E63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7930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C00000"/>
                </a:solidFill>
              </a:rPr>
              <a:t>Проблема!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986B5A-7FD3-4628-8775-72ADAC3C4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3" y="1385454"/>
            <a:ext cx="11083636" cy="5278581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sz="3200" dirty="0"/>
              <a:t>Тип Строки позволяет выполнять над строками различные </a:t>
            </a:r>
            <a:r>
              <a:rPr lang="ru-RU" sz="3200" i="1" dirty="0"/>
              <a:t>операции</a:t>
            </a:r>
            <a:r>
              <a:rPr lang="ru-RU" sz="3200" dirty="0"/>
              <a:t>, в том числе </a:t>
            </a:r>
            <a:r>
              <a:rPr lang="ru-RU" sz="3200" i="1" dirty="0"/>
              <a:t>поиск, замену, вставку и удаление подстрок</a:t>
            </a:r>
            <a:r>
              <a:rPr lang="en-US" sz="3200" dirty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3200" dirty="0"/>
              <a:t>Но есть классы задач по обработке символьной информации, где стандартных возможностей явно не хватает</a:t>
            </a:r>
            <a:r>
              <a:rPr lang="en-US" sz="3200" dirty="0"/>
              <a:t>: </a:t>
            </a:r>
            <a:r>
              <a:rPr lang="ru-RU" sz="3200" dirty="0">
                <a:solidFill>
                  <a:srgbClr val="C00000"/>
                </a:solidFill>
              </a:rPr>
              <a:t>проверить текст на соответствие предопределенному шаблону (например, адресу электронной почты), поиск по шаблону </a:t>
            </a:r>
            <a:r>
              <a:rPr lang="en-US" sz="3200" i="1" dirty="0">
                <a:solidFill>
                  <a:schemeClr val="accent5">
                    <a:lumMod val="50000"/>
                  </a:schemeClr>
                </a:solidFill>
              </a:rPr>
              <a:t>pet</a:t>
            </a:r>
            <a:r>
              <a:rPr lang="ru-RU" sz="3200" i="1" dirty="0">
                <a:solidFill>
                  <a:schemeClr val="accent5">
                    <a:lumMod val="50000"/>
                  </a:schemeClr>
                </a:solidFill>
              </a:rPr>
              <a:t>*</a:t>
            </a:r>
            <a:r>
              <a:rPr lang="en-US" sz="3200" i="1" dirty="0">
                <a:solidFill>
                  <a:schemeClr val="accent5">
                    <a:lumMod val="50000"/>
                  </a:schemeClr>
                </a:solidFill>
              </a:rPr>
              <a:t>. </a:t>
            </a:r>
            <a:r>
              <a:rPr lang="ru-RU" sz="3200" i="1" dirty="0">
                <a:solidFill>
                  <a:schemeClr val="accent5">
                    <a:lumMod val="50000"/>
                  </a:schemeClr>
                </a:solidFill>
              </a:rPr>
              <a:t>??? </a:t>
            </a:r>
            <a:r>
              <a:rPr lang="ru-RU" sz="3200" dirty="0"/>
              <a:t>и др.</a:t>
            </a:r>
          </a:p>
          <a:p>
            <a:pPr marL="0" indent="0" algn="just">
              <a:buNone/>
            </a:pPr>
            <a:endParaRPr lang="ru-RU" sz="3200" dirty="0"/>
          </a:p>
          <a:p>
            <a:pPr algn="just">
              <a:buFont typeface="Wingdings" panose="05000000000000000000" pitchFamily="2" charset="2"/>
              <a:buChar char="Ø"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426046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84BCE2-BB32-4CC4-B75B-6BC37978D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Регулярное выражение – что это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272922-4954-4C7E-B968-2967B8145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571" y="1436914"/>
            <a:ext cx="11422743" cy="542108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sz="3200" dirty="0"/>
              <a:t>Регулярное выражение - это компактная форма записи набора строк</a:t>
            </a:r>
            <a:r>
              <a:rPr lang="en-US" sz="3200" dirty="0"/>
              <a:t>, </a:t>
            </a:r>
            <a:r>
              <a:rPr lang="ru-RU" sz="3200" dirty="0"/>
              <a:t>отвечающих требованиям</a:t>
            </a:r>
            <a:r>
              <a:rPr lang="en-US" sz="3200" dirty="0"/>
              <a:t> </a:t>
            </a:r>
            <a:r>
              <a:rPr lang="ru-RU" sz="3200" dirty="0"/>
              <a:t>регулярного выражения.</a:t>
            </a:r>
            <a:endParaRPr lang="en-US" sz="32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3200" dirty="0"/>
              <a:t>Регулярное выражение - это текстовая строка, которая описывает </a:t>
            </a:r>
            <a:r>
              <a:rPr lang="ru-RU" sz="3200" dirty="0">
                <a:solidFill>
                  <a:srgbClr val="FF0000"/>
                </a:solidFill>
              </a:rPr>
              <a:t>шаблон</a:t>
            </a:r>
            <a:r>
              <a:rPr lang="ru-RU" sz="3200" dirty="0"/>
              <a:t>, который используется механизмом регулярных выражений для поиска фрагмента текста (или позиций) в исходном тексте, как правило, для проверки, поиска, замены или разделения.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3200" dirty="0"/>
              <a:t>В состав </a:t>
            </a:r>
            <a:r>
              <a:rPr lang="ru-RU" sz="3200" dirty="0" err="1"/>
              <a:t>Python</a:t>
            </a:r>
            <a:r>
              <a:rPr lang="ru-RU" sz="3200" dirty="0"/>
              <a:t> входит модуль </a:t>
            </a:r>
            <a:r>
              <a:rPr lang="en-US" sz="3200" b="1" i="1" dirty="0">
                <a:solidFill>
                  <a:srgbClr val="FF0000"/>
                </a:solidFill>
              </a:rPr>
              <a:t>r</a:t>
            </a:r>
            <a:r>
              <a:rPr lang="ru-RU" sz="3200" b="1" i="1" dirty="0">
                <a:solidFill>
                  <a:srgbClr val="FF0000"/>
                </a:solidFill>
              </a:rPr>
              <a:t>е</a:t>
            </a:r>
            <a:r>
              <a:rPr lang="ru-RU" sz="3200" dirty="0"/>
              <a:t>, с помощью которого можно создавать и использовать регулярные выражения.</a:t>
            </a:r>
          </a:p>
          <a:p>
            <a:pPr marL="0" indent="0" algn="just">
              <a:buNone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224765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3596B2C-F017-4F83-A003-E4AF2EACA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873" y="1343891"/>
            <a:ext cx="10674927" cy="4833072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       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8F5AEF34-4E11-4BC2-BACD-B2582F56E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477325"/>
              </p:ext>
            </p:extLst>
          </p:nvPr>
        </p:nvGraphicFramePr>
        <p:xfrm>
          <a:off x="464456" y="159658"/>
          <a:ext cx="11466287" cy="575772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301956">
                  <a:extLst>
                    <a:ext uri="{9D8B030D-6E8A-4147-A177-3AD203B41FA5}">
                      <a16:colId xmlns:a16="http://schemas.microsoft.com/office/drawing/2014/main" val="1975139064"/>
                    </a:ext>
                  </a:extLst>
                </a:gridCol>
                <a:gridCol w="8164331">
                  <a:extLst>
                    <a:ext uri="{9D8B030D-6E8A-4147-A177-3AD203B41FA5}">
                      <a16:colId xmlns:a16="http://schemas.microsoft.com/office/drawing/2014/main" val="254059779"/>
                    </a:ext>
                  </a:extLst>
                </a:gridCol>
              </a:tblGrid>
              <a:tr h="1017341"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Регулярное выражение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3200" dirty="0"/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038931"/>
                  </a:ext>
                </a:extLst>
              </a:tr>
              <a:tr h="552271">
                <a:tc>
                  <a:txBody>
                    <a:bodyPr/>
                    <a:lstStyle/>
                    <a:p>
                      <a:r>
                        <a:rPr lang="en-US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simple text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 точности текст «</a:t>
                      </a:r>
                      <a:r>
                        <a:rPr lang="ru-RU" sz="2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simple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»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511523"/>
                  </a:ext>
                </a:extLst>
              </a:tr>
              <a:tr h="901073">
                <a:tc>
                  <a:txBody>
                    <a:bodyPr/>
                    <a:lstStyle/>
                    <a:p>
                      <a:r>
                        <a:rPr lang="en-US" sz="3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\d{5}</a:t>
                      </a:r>
                      <a:endParaRPr lang="ru-RU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Последовательности из 5 цифр</a:t>
                      </a:r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sz="2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b="1" dirty="0">
                          <a:solidFill>
                            <a:srgbClr val="FF0000"/>
                          </a:solidFill>
                        </a:rPr>
                        <a:t>\d</a:t>
                      </a:r>
                      <a:r>
                        <a:rPr lang="ru-RU" sz="28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означает любую цифру</a:t>
                      </a:r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2800" b="1" dirty="0">
                          <a:solidFill>
                            <a:srgbClr val="FF0000"/>
                          </a:solidFill>
                        </a:rPr>
                        <a:t>{5}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— ровно 5 раз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718757"/>
                  </a:ext>
                </a:extLst>
              </a:tr>
              <a:tr h="901073">
                <a:tc>
                  <a:txBody>
                    <a:bodyPr/>
                    <a:lstStyle/>
                    <a:p>
                      <a:r>
                        <a:rPr lang="en-US" sz="3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\d\d</a:t>
                      </a:r>
                      <a:r>
                        <a:rPr lang="en-US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3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\d\d</a:t>
                      </a:r>
                      <a:r>
                        <a:rPr lang="en-US" sz="3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3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\d{4}</a:t>
                      </a:r>
                      <a:endParaRPr lang="ru-RU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Даты в формате ДД/ММ/ГГГГ</a:t>
                      </a:r>
                      <a:br>
                        <a:rPr lang="ru-RU" sz="2800" dirty="0"/>
                      </a:b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(и прочие фрагменты, например, 98/76/5432)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151561"/>
                  </a:ext>
                </a:extLst>
              </a:tr>
              <a:tr h="2222048">
                <a:tc>
                  <a:txBody>
                    <a:bodyPr/>
                    <a:lstStyle/>
                    <a:p>
                      <a:r>
                        <a:rPr lang="en-US" sz="3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\b\w{3}\b</a:t>
                      </a:r>
                      <a:endParaRPr lang="ru-RU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Слова в точности из трёх букв</a:t>
                      </a:r>
                      <a:br>
                        <a:rPr lang="ru-RU" sz="2800" dirty="0"/>
                      </a:br>
                      <a:r>
                        <a:rPr lang="ru-RU" sz="2800" dirty="0">
                          <a:solidFill>
                            <a:srgbClr val="FF0000"/>
                          </a:solidFill>
                        </a:rPr>
                        <a:t>\b</a:t>
                      </a:r>
                      <a:r>
                        <a:rPr lang="ru-RU" sz="2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означает границу слова</a:t>
                      </a:r>
                      <a:br>
                        <a:rPr lang="ru-RU" sz="2800" dirty="0"/>
                      </a:b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(с одной стороны буква, а с другой — нет)</a:t>
                      </a:r>
                      <a:br>
                        <a:rPr lang="ru-RU" sz="2800" dirty="0"/>
                      </a:br>
                      <a:r>
                        <a:rPr lang="ru-RU" sz="2800" dirty="0">
                          <a:solidFill>
                            <a:srgbClr val="FF0000"/>
                          </a:solidFill>
                        </a:rPr>
                        <a:t>\w</a:t>
                      </a:r>
                      <a:r>
                        <a:rPr lang="ru-RU" sz="2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 любая буква,</a:t>
                      </a:r>
                      <a:r>
                        <a:rPr lang="en-US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2800" dirty="0">
                          <a:solidFill>
                            <a:srgbClr val="FF0000"/>
                          </a:solidFill>
                        </a:rPr>
                        <a:t>{3}</a:t>
                      </a:r>
                      <a:r>
                        <a:rPr lang="ru-RU" sz="2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2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 ровно три раза</a:t>
                      </a:r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677756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647F88C1-B175-4132-B7F1-2FA346CCE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589053"/>
              </p:ext>
            </p:extLst>
          </p:nvPr>
        </p:nvGraphicFramePr>
        <p:xfrm>
          <a:off x="475673" y="5753463"/>
          <a:ext cx="11716327" cy="13716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373960">
                  <a:extLst>
                    <a:ext uri="{9D8B030D-6E8A-4147-A177-3AD203B41FA5}">
                      <a16:colId xmlns:a16="http://schemas.microsoft.com/office/drawing/2014/main" val="3227318330"/>
                    </a:ext>
                  </a:extLst>
                </a:gridCol>
                <a:gridCol w="8342367">
                  <a:extLst>
                    <a:ext uri="{9D8B030D-6E8A-4147-A177-3AD203B41FA5}">
                      <a16:colId xmlns:a16="http://schemas.microsoft.com/office/drawing/2014/main" val="3979697441"/>
                    </a:ext>
                  </a:extLst>
                </a:gridCol>
              </a:tblGrid>
              <a:tr h="447235">
                <a:tc>
                  <a:txBody>
                    <a:bodyPr/>
                    <a:lstStyle/>
                    <a:p>
                      <a:r>
                        <a:rPr lang="en-US" sz="32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[-+]?\d+</a:t>
                      </a:r>
                      <a:endParaRPr lang="ru-RU" sz="3200" b="0" i="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Целое число, например, 7, +17, -42, 0013 (возможны ведущие нули), </a:t>
                      </a:r>
                      <a:r>
                        <a:rPr lang="ru-RU" sz="2800" dirty="0">
                          <a:solidFill>
                            <a:schemeClr val="tx1"/>
                          </a:solidFill>
                        </a:rPr>
                        <a:t>[-+]?</a:t>
                      </a:r>
                      <a:r>
                        <a:rPr lang="ru-RU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— либо </a:t>
                      </a:r>
                      <a:r>
                        <a:rPr lang="ru-RU" sz="2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ru-RU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либо </a:t>
                      </a:r>
                      <a:r>
                        <a:rPr lang="ru-RU" sz="2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r>
                        <a:rPr lang="ru-RU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либо пусто</a:t>
                      </a:r>
                      <a:br>
                        <a:rPr lang="ru-RU" sz="2800" dirty="0">
                          <a:solidFill>
                            <a:schemeClr val="tx1"/>
                          </a:solidFill>
                        </a:rPr>
                      </a:br>
                      <a:r>
                        <a:rPr lang="ru-RU" sz="2800" dirty="0">
                          <a:solidFill>
                            <a:schemeClr val="tx1"/>
                          </a:solidFill>
                        </a:rPr>
                        <a:t>\d+</a:t>
                      </a:r>
                      <a:r>
                        <a:rPr lang="ru-RU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— последовательность из одной или более цифр</a:t>
                      </a:r>
                      <a:endParaRPr lang="ru-RU" sz="2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583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8317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B4E629-9A51-44E2-922B-6554559DB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418" y="143453"/>
            <a:ext cx="10328564" cy="743239"/>
          </a:xfrm>
        </p:spPr>
        <p:txBody>
          <a:bodyPr/>
          <a:lstStyle/>
          <a:p>
            <a:pPr algn="ctr"/>
            <a:r>
              <a:rPr lang="ru-RU" dirty="0"/>
              <a:t>Регулярное выражение – для чего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295406-FF1A-41C0-8A89-116356345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052945"/>
            <a:ext cx="11679383" cy="5661601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sz="3200" i="1" dirty="0">
                <a:solidFill>
                  <a:srgbClr val="FF0000"/>
                </a:solidFill>
              </a:rPr>
              <a:t>Проверка:</a:t>
            </a:r>
            <a:r>
              <a:rPr lang="ru-RU" sz="3200" b="1" i="1" dirty="0">
                <a:solidFill>
                  <a:srgbClr val="FF0000"/>
                </a:solidFill>
              </a:rPr>
              <a:t> </a:t>
            </a:r>
            <a:r>
              <a:rPr lang="ru-RU" sz="3200" dirty="0"/>
              <a:t>проверка соответствия фрагментов текста некоторым критериям, например, наличие символа обозначения валюты и  последующих за ним цифр. </a:t>
            </a:r>
          </a:p>
          <a:p>
            <a:pPr marL="0" indent="0" algn="just">
              <a:buNone/>
            </a:pPr>
            <a:endParaRPr lang="ru-RU" sz="32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3200" i="1" dirty="0">
                <a:solidFill>
                  <a:schemeClr val="accent1"/>
                </a:solidFill>
              </a:rPr>
              <a:t>Поиск: </a:t>
            </a:r>
            <a:r>
              <a:rPr lang="ru-RU" sz="3200" dirty="0"/>
              <a:t>поиск подстрок, которые могут иметь несколько форм,  </a:t>
            </a:r>
          </a:p>
          <a:p>
            <a:pPr marL="0" indent="0" algn="just">
              <a:buNone/>
            </a:pPr>
            <a:r>
              <a:rPr lang="ru-RU" sz="3200" dirty="0"/>
              <a:t>например, поиск подстрок «pet.png», «pet.jpg», «pet.jpeg» или «</a:t>
            </a:r>
            <a:r>
              <a:rPr lang="ru-RU" sz="3200" dirty="0" err="1"/>
              <a:t>pet.svg</a:t>
            </a:r>
            <a:r>
              <a:rPr lang="ru-RU" sz="3200" dirty="0"/>
              <a:t>», чтобы при этом не обнаруживались подстроки  «</a:t>
            </a:r>
            <a:r>
              <a:rPr lang="ru-RU" sz="3200" dirty="0" err="1"/>
              <a:t>carpet</a:t>
            </a:r>
            <a:r>
              <a:rPr lang="ru-RU" sz="3200" dirty="0"/>
              <a:t>. </a:t>
            </a:r>
            <a:r>
              <a:rPr lang="ru-RU" sz="3200" dirty="0" err="1"/>
              <a:t>png</a:t>
            </a:r>
            <a:r>
              <a:rPr lang="ru-RU" sz="3200" dirty="0"/>
              <a:t>» и подобные ей.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1541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A6876B-3E66-4E44-B6DB-E47CB273A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8766"/>
          </a:xfrm>
        </p:spPr>
        <p:txBody>
          <a:bodyPr/>
          <a:lstStyle/>
          <a:p>
            <a:r>
              <a:rPr lang="ru-RU" dirty="0"/>
              <a:t>Регулярное выражение – для чего</a:t>
            </a:r>
            <a:r>
              <a:rPr lang="en-US" dirty="0"/>
              <a:t>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57D00A-61F6-4658-9AC5-6A84B91CC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343892"/>
            <a:ext cx="11248571" cy="4833071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sz="3200" i="1" dirty="0">
                <a:solidFill>
                  <a:schemeClr val="accent2">
                    <a:lumMod val="75000"/>
                  </a:schemeClr>
                </a:solidFill>
              </a:rPr>
              <a:t>Поиск и замена: </a:t>
            </a:r>
            <a:r>
              <a:rPr lang="ru-RU" sz="3200" dirty="0"/>
              <a:t>замена всего, что совпадает с регулярным  выражением, и замена на указанную строку, например, поиск подстроки «устройство передвижения, движимое мускульной силой» и  замена подстрокой «велосипед». </a:t>
            </a:r>
            <a:endParaRPr lang="en-US" sz="3200" dirty="0"/>
          </a:p>
          <a:p>
            <a:pPr marL="0" indent="0" algn="just">
              <a:buNone/>
            </a:pPr>
            <a:endParaRPr lang="ru-RU" sz="32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3200" dirty="0"/>
              <a:t> </a:t>
            </a:r>
            <a:r>
              <a:rPr lang="ru-RU" sz="3200" i="1" dirty="0">
                <a:solidFill>
                  <a:schemeClr val="accent5">
                    <a:lumMod val="50000"/>
                  </a:schemeClr>
                </a:solidFill>
              </a:rPr>
              <a:t>Разбиение строк: </a:t>
            </a:r>
            <a:r>
              <a:rPr lang="ru-RU" sz="3200" dirty="0"/>
              <a:t>разбиение строки по точкам совпадения с  регулярным выражением, например, разбиение строки по подстроке «: » или «=».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9849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F72DE3-1432-4115-98A7-139CD94CA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Спецсимволы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CED7258-CEE1-474D-9464-D7226AF494C5}"/>
              </a:ext>
            </a:extLst>
          </p:cNvPr>
          <p:cNvSpPr/>
          <p:nvPr/>
        </p:nvSpPr>
        <p:spPr>
          <a:xfrm>
            <a:off x="406400" y="1690689"/>
            <a:ext cx="1149531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ru-RU" altLang="ru-RU" sz="3600" dirty="0">
                <a:solidFill>
                  <a:srgbClr val="FF0000"/>
                </a:solidFill>
                <a:latin typeface="Menlo"/>
              </a:rPr>
              <a:t>. ^ $ * + ? { } [ ] \ | ( )</a:t>
            </a:r>
            <a:endParaRPr lang="ru-RU" altLang="ru-RU" sz="3600" dirty="0">
              <a:solidFill>
                <a:srgbClr val="FF0000"/>
              </a:solidFill>
              <a:latin typeface="-apple-system"/>
            </a:endParaRP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ru-RU" altLang="ru-RU" sz="3600" dirty="0">
                <a:solidFill>
                  <a:srgbClr val="222222"/>
                </a:solidFill>
                <a:latin typeface="-apple-system"/>
              </a:rPr>
              <a:t>Для написания их просто как символов требуется их </a:t>
            </a:r>
            <a:r>
              <a:rPr lang="ru-RU" altLang="ru-RU" sz="3600" i="1" dirty="0">
                <a:solidFill>
                  <a:srgbClr val="222222"/>
                </a:solidFill>
                <a:latin typeface="-apple-system"/>
              </a:rPr>
              <a:t>экранировать</a:t>
            </a:r>
            <a:r>
              <a:rPr lang="ru-RU" altLang="ru-RU" sz="3600" dirty="0">
                <a:solidFill>
                  <a:srgbClr val="222222"/>
                </a:solidFill>
                <a:latin typeface="-apple-system"/>
              </a:rPr>
              <a:t>, для чего нужно поставить перед ними знак </a:t>
            </a:r>
            <a:r>
              <a:rPr lang="ru-RU" altLang="ru-RU" sz="3600" dirty="0">
                <a:solidFill>
                  <a:srgbClr val="FF0000"/>
                </a:solidFill>
                <a:latin typeface="Menlo"/>
              </a:rPr>
              <a:t>\</a:t>
            </a:r>
            <a:r>
              <a:rPr lang="ru-RU" altLang="ru-RU" sz="3600" dirty="0">
                <a:solidFill>
                  <a:srgbClr val="222222"/>
                </a:solidFill>
                <a:latin typeface="-apple-system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34365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29329-C698-40D0-A013-E06E97ECA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chemeClr val="accent2"/>
                </a:solidFill>
              </a:rPr>
              <a:t>Осторожно - регулярные выражения!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B8EF78-D18C-4E42-BCD7-7AFAD9CD9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714" y="1494971"/>
            <a:ext cx="11176000" cy="5152572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ru-RU" sz="3200" dirty="0">
                <a:solidFill>
                  <a:srgbClr val="FF0000"/>
                </a:solidFill>
              </a:rPr>
              <a:t>Использовать только там, где они действительно приносят пользу, а не вред. Плохо написанные регулярные выражения работают медленно.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3200" dirty="0"/>
              <a:t> </a:t>
            </a:r>
            <a:r>
              <a:rPr lang="ru-RU" sz="3200" dirty="0">
                <a:solidFill>
                  <a:schemeClr val="accent1"/>
                </a:solidFill>
              </a:rPr>
              <a:t>Их сложно читать, особенно если </a:t>
            </a:r>
            <a:r>
              <a:rPr lang="ru-RU" sz="3200" i="1" dirty="0">
                <a:solidFill>
                  <a:schemeClr val="accent1"/>
                </a:solidFill>
              </a:rPr>
              <a:t>регулярка</a:t>
            </a:r>
            <a:r>
              <a:rPr lang="ru-RU" sz="3200" dirty="0">
                <a:solidFill>
                  <a:schemeClr val="accent1"/>
                </a:solidFill>
              </a:rPr>
              <a:t> написана не лично тобой пять минут назад.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3200" dirty="0">
                <a:solidFill>
                  <a:schemeClr val="accent4">
                    <a:lumMod val="50000"/>
                  </a:schemeClr>
                </a:solidFill>
              </a:rPr>
              <a:t>Даже небольшое изменение задачи (того, что требуется найти) приводит к значительному изменению выражения.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ru-RU" sz="3200" dirty="0">
                <a:solidFill>
                  <a:srgbClr val="FF0000"/>
                </a:solidFill>
              </a:rPr>
              <a:t>Это </a:t>
            </a:r>
            <a:r>
              <a:rPr lang="ru-RU" sz="3200" i="1" dirty="0" err="1">
                <a:solidFill>
                  <a:srgbClr val="FF0000"/>
                </a:solidFill>
              </a:rPr>
              <a:t>write</a:t>
            </a:r>
            <a:r>
              <a:rPr lang="ru-RU" sz="3200" i="1" dirty="0">
                <a:solidFill>
                  <a:srgbClr val="FF0000"/>
                </a:solidFill>
              </a:rPr>
              <a:t> </a:t>
            </a:r>
            <a:r>
              <a:rPr lang="ru-RU" sz="3200" i="1" dirty="0" err="1">
                <a:solidFill>
                  <a:srgbClr val="FF0000"/>
                </a:solidFill>
              </a:rPr>
              <a:t>only</a:t>
            </a:r>
            <a:r>
              <a:rPr lang="ru-RU" sz="3200" i="1" dirty="0">
                <a:solidFill>
                  <a:srgbClr val="FF0000"/>
                </a:solidFill>
              </a:rPr>
              <a:t> </a:t>
            </a:r>
            <a:r>
              <a:rPr lang="ru-RU" sz="3200" i="1" dirty="0" err="1">
                <a:solidFill>
                  <a:srgbClr val="FF0000"/>
                </a:solidFill>
              </a:rPr>
              <a:t>code</a:t>
            </a:r>
            <a:r>
              <a:rPr lang="ru-RU" sz="3200" dirty="0">
                <a:solidFill>
                  <a:srgbClr val="FF0000"/>
                </a:solidFill>
              </a:rPr>
              <a:t> (код, который только пишут с нуля, но не читают и не правят). </a:t>
            </a:r>
          </a:p>
        </p:txBody>
      </p:sp>
    </p:spTree>
    <p:extLst>
      <p:ext uri="{BB962C8B-B14F-4D97-AF65-F5344CB8AC3E}">
        <p14:creationId xmlns:p14="http://schemas.microsoft.com/office/powerpoint/2010/main" val="1793418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52DFED-7A1F-49B5-A151-A15253E26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Регулярные выражения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ru-RU" dirty="0">
                <a:solidFill>
                  <a:srgbClr val="FF0000"/>
                </a:solidFill>
              </a:rPr>
              <a:t>как</a:t>
            </a:r>
            <a:r>
              <a:rPr lang="en-US" dirty="0">
                <a:solidFill>
                  <a:srgbClr val="FF0000"/>
                </a:solidFill>
              </a:rPr>
              <a:t>?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27B1C4-472D-42F6-A727-0EF0E5F9D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436" y="1565564"/>
            <a:ext cx="10633364" cy="4611399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sz="3200" dirty="0"/>
              <a:t>Регулярное выражение - это шаблон, по которому выполняется поиск соответствующего фрагмента текста.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3200" dirty="0"/>
              <a:t>Язык описания регулярных выражений состоит из символов двух видов: </a:t>
            </a:r>
            <a:r>
              <a:rPr lang="ru-RU" sz="3200" dirty="0">
                <a:solidFill>
                  <a:srgbClr val="C00000"/>
                </a:solidFill>
              </a:rPr>
              <a:t>обычных символов </a:t>
            </a:r>
            <a:r>
              <a:rPr lang="ru-RU" sz="3200" dirty="0"/>
              <a:t>и </a:t>
            </a:r>
            <a:r>
              <a:rPr lang="ru-RU" sz="3200" dirty="0">
                <a:solidFill>
                  <a:schemeClr val="accent1"/>
                </a:solidFill>
              </a:rPr>
              <a:t>метасимволов</a:t>
            </a:r>
            <a:r>
              <a:rPr lang="ru-RU" sz="3200" dirty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sz="3200" dirty="0"/>
              <a:t> Обычный символ представляет в выражении сам себя, а метасимвол - некоторый </a:t>
            </a:r>
            <a:r>
              <a:rPr lang="ru-RU" sz="3200" i="1" dirty="0"/>
              <a:t>класс символов</a:t>
            </a:r>
            <a:r>
              <a:rPr lang="ru-RU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2032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46A43C-1A87-4401-A10A-DA2BA6FDC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Наиболее употребительные метасимволы: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CD55F1C5-80E4-44C0-916E-0AF55C6723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0486393"/>
              </p:ext>
            </p:extLst>
          </p:nvPr>
        </p:nvGraphicFramePr>
        <p:xfrm>
          <a:off x="1496291" y="1510146"/>
          <a:ext cx="8035637" cy="49827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27247">
                  <a:extLst>
                    <a:ext uri="{9D8B030D-6E8A-4147-A177-3AD203B41FA5}">
                      <a16:colId xmlns:a16="http://schemas.microsoft.com/office/drawing/2014/main" val="4273743282"/>
                    </a:ext>
                  </a:extLst>
                </a:gridCol>
                <a:gridCol w="6108390">
                  <a:extLst>
                    <a:ext uri="{9D8B030D-6E8A-4147-A177-3AD203B41FA5}">
                      <a16:colId xmlns:a16="http://schemas.microsoft.com/office/drawing/2014/main" val="1084887597"/>
                    </a:ext>
                  </a:extLst>
                </a:gridCol>
              </a:tblGrid>
              <a:tr h="6970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Use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To match any character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2164914"/>
                  </a:ext>
                </a:extLst>
              </a:tr>
              <a:tr h="80034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[set]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 dirty="0">
                          <a:effectLst/>
                        </a:rPr>
                        <a:t>In that set</a:t>
                      </a:r>
                      <a:endParaRPr lang="ru-RU" sz="2800" spc="-25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1914128"/>
                  </a:ext>
                </a:extLst>
              </a:tr>
              <a:tr h="6970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[^set]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Not in that set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9256635"/>
                  </a:ext>
                </a:extLst>
              </a:tr>
              <a:tr h="6970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[a–z]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In the a-z range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1568534"/>
                  </a:ext>
                </a:extLst>
              </a:tr>
              <a:tr h="6970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[^a–z]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Not in the a-z range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9735537"/>
                  </a:ext>
                </a:extLst>
              </a:tr>
              <a:tr h="6970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.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Any except \n (new line)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4411364"/>
                  </a:ext>
                </a:extLst>
              </a:tr>
              <a:tr h="6970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\char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 dirty="0">
                          <a:effectLst/>
                        </a:rPr>
                        <a:t>Escaped special character</a:t>
                      </a:r>
                      <a:endParaRPr lang="ru-RU" sz="2800" spc="-25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771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544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B7115E-BEFF-497F-BA68-366DFA103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788236" cy="6324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Примеры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22969F-CED1-4E05-8F6A-0D6F27B49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302327"/>
            <a:ext cx="11804073" cy="4874636"/>
          </a:xfrm>
        </p:spPr>
        <p:txBody>
          <a:bodyPr/>
          <a:lstStyle/>
          <a:p>
            <a:pPr marL="0" indent="0">
              <a:buNone/>
            </a:pPr>
            <a:endParaRPr lang="en-US" sz="32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4C68C63-E10B-4A2E-B3A6-C059C819B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807263"/>
              </p:ext>
            </p:extLst>
          </p:nvPr>
        </p:nvGraphicFramePr>
        <p:xfrm>
          <a:off x="374073" y="1302327"/>
          <a:ext cx="8700653" cy="455814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580558">
                  <a:extLst>
                    <a:ext uri="{9D8B030D-6E8A-4147-A177-3AD203B41FA5}">
                      <a16:colId xmlns:a16="http://schemas.microsoft.com/office/drawing/2014/main" val="1377022596"/>
                    </a:ext>
                  </a:extLst>
                </a:gridCol>
                <a:gridCol w="5120095">
                  <a:extLst>
                    <a:ext uri="{9D8B030D-6E8A-4147-A177-3AD203B41FA5}">
                      <a16:colId xmlns:a16="http://schemas.microsoft.com/office/drawing/2014/main" val="2134303652"/>
                    </a:ext>
                  </a:extLst>
                </a:gridCol>
              </a:tblGrid>
              <a:tr h="651164">
                <a:tc>
                  <a:txBody>
                    <a:bodyPr/>
                    <a:lstStyle/>
                    <a:p>
                      <a:r>
                        <a:rPr lang="ru-RU" sz="2800" b="1" i="1" dirty="0">
                          <a:solidFill>
                            <a:srgbClr val="C00000"/>
                          </a:solidFill>
                        </a:rPr>
                        <a:t>Выражение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i="1" dirty="0">
                          <a:solidFill>
                            <a:schemeClr val="accent1"/>
                          </a:solidFill>
                        </a:rPr>
                        <a:t>Фрагмент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042547"/>
                  </a:ext>
                </a:extLst>
              </a:tr>
              <a:tr h="651164">
                <a:tc>
                  <a:txBody>
                    <a:bodyPr/>
                    <a:lstStyle/>
                    <a:p>
                      <a:r>
                        <a:rPr lang="ru-RU" sz="2800" b="1" i="1" dirty="0">
                          <a:solidFill>
                            <a:srgbClr val="C00000"/>
                          </a:solidFill>
                        </a:rPr>
                        <a:t>c.t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i="1" dirty="0" err="1">
                          <a:solidFill>
                            <a:schemeClr val="accent1"/>
                          </a:solidFill>
                        </a:rPr>
                        <a:t>cat</a:t>
                      </a:r>
                      <a:r>
                        <a:rPr lang="ru-RU" sz="2800" b="1" i="1" dirty="0">
                          <a:solidFill>
                            <a:schemeClr val="accent1"/>
                          </a:solidFill>
                        </a:rPr>
                        <a:t>, </a:t>
                      </a:r>
                      <a:r>
                        <a:rPr lang="ru-RU" sz="2800" b="1" i="1" dirty="0" err="1">
                          <a:solidFill>
                            <a:schemeClr val="accent1"/>
                          </a:solidFill>
                        </a:rPr>
                        <a:t>cut</a:t>
                      </a:r>
                      <a:r>
                        <a:rPr lang="ru-RU" sz="2800" b="1" i="1" dirty="0">
                          <a:solidFill>
                            <a:schemeClr val="accent1"/>
                          </a:solidFill>
                        </a:rPr>
                        <a:t>, </a:t>
                      </a:r>
                      <a:r>
                        <a:rPr lang="ru-RU" sz="2800" b="1" i="1" dirty="0" err="1">
                          <a:solidFill>
                            <a:schemeClr val="accent1"/>
                          </a:solidFill>
                        </a:rPr>
                        <a:t>c#t</a:t>
                      </a:r>
                      <a:r>
                        <a:rPr lang="ru-RU" sz="2800" b="1" i="1" dirty="0">
                          <a:solidFill>
                            <a:schemeClr val="accent1"/>
                          </a:solidFill>
                        </a:rPr>
                        <a:t>, c{t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294340"/>
                  </a:ext>
                </a:extLst>
              </a:tr>
              <a:tr h="651164">
                <a:tc>
                  <a:txBody>
                    <a:bodyPr/>
                    <a:lstStyle/>
                    <a:p>
                      <a:r>
                        <a:rPr lang="ru-RU" sz="2800" b="1" i="1" dirty="0">
                          <a:solidFill>
                            <a:srgbClr val="C00000"/>
                          </a:solidFill>
                        </a:rPr>
                        <a:t>c[</a:t>
                      </a:r>
                      <a:r>
                        <a:rPr lang="ru-RU" sz="2800" b="1" i="1" dirty="0" err="1">
                          <a:solidFill>
                            <a:srgbClr val="C00000"/>
                          </a:solidFill>
                        </a:rPr>
                        <a:t>aui</a:t>
                      </a:r>
                      <a:r>
                        <a:rPr lang="ru-RU" sz="2800" b="1" i="1" dirty="0">
                          <a:solidFill>
                            <a:srgbClr val="C00000"/>
                          </a:solidFill>
                        </a:rPr>
                        <a:t>]t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i="1" dirty="0" err="1">
                          <a:solidFill>
                            <a:schemeClr val="accent1"/>
                          </a:solidFill>
                        </a:rPr>
                        <a:t>cat</a:t>
                      </a:r>
                      <a:r>
                        <a:rPr lang="ru-RU" sz="2800" b="1" i="1" dirty="0">
                          <a:solidFill>
                            <a:schemeClr val="accent1"/>
                          </a:solidFill>
                        </a:rPr>
                        <a:t>, </a:t>
                      </a:r>
                      <a:r>
                        <a:rPr lang="ru-RU" sz="2800" b="1" i="1" dirty="0" err="1">
                          <a:solidFill>
                            <a:schemeClr val="accent1"/>
                          </a:solidFill>
                        </a:rPr>
                        <a:t>cut</a:t>
                      </a:r>
                      <a:r>
                        <a:rPr lang="ru-RU" sz="2800" b="1" i="1" dirty="0">
                          <a:solidFill>
                            <a:schemeClr val="accent1"/>
                          </a:solidFill>
                        </a:rPr>
                        <a:t>, c</a:t>
                      </a:r>
                      <a:r>
                        <a:rPr lang="en-US" sz="2800" b="1" i="1" dirty="0">
                          <a:solidFill>
                            <a:schemeClr val="accent1"/>
                          </a:solidFill>
                        </a:rPr>
                        <a:t>i</a:t>
                      </a:r>
                      <a:r>
                        <a:rPr lang="ru-RU" sz="2800" b="1" i="1" dirty="0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334223"/>
                  </a:ext>
                </a:extLst>
              </a:tr>
              <a:tr h="651164">
                <a:tc>
                  <a:txBody>
                    <a:bodyPr/>
                    <a:lstStyle/>
                    <a:p>
                      <a:r>
                        <a:rPr lang="ru-RU" sz="2800" b="1" i="1" dirty="0">
                          <a:solidFill>
                            <a:srgbClr val="C00000"/>
                          </a:solidFill>
                        </a:rPr>
                        <a:t>c[a-c]t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i="1" dirty="0" err="1">
                          <a:solidFill>
                            <a:schemeClr val="accent1"/>
                          </a:solidFill>
                        </a:rPr>
                        <a:t>cat</a:t>
                      </a:r>
                      <a:r>
                        <a:rPr lang="ru-RU" sz="2800" b="1" i="1" dirty="0">
                          <a:solidFill>
                            <a:schemeClr val="accent1"/>
                          </a:solidFill>
                        </a:rPr>
                        <a:t>, </a:t>
                      </a:r>
                      <a:r>
                        <a:rPr lang="ru-RU" sz="2800" b="1" i="1" dirty="0" err="1">
                          <a:solidFill>
                            <a:schemeClr val="accent1"/>
                          </a:solidFill>
                        </a:rPr>
                        <a:t>cbt</a:t>
                      </a:r>
                      <a:r>
                        <a:rPr lang="ru-RU" sz="2800" b="1" i="1" dirty="0">
                          <a:solidFill>
                            <a:schemeClr val="accent1"/>
                          </a:solidFill>
                        </a:rPr>
                        <a:t>, </a:t>
                      </a:r>
                      <a:r>
                        <a:rPr lang="ru-RU" sz="2800" b="1" i="1" dirty="0" err="1">
                          <a:solidFill>
                            <a:schemeClr val="accent1"/>
                          </a:solidFill>
                        </a:rPr>
                        <a:t>cct</a:t>
                      </a:r>
                      <a:endParaRPr lang="ru-RU" sz="2800" b="1" i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575421"/>
                  </a:ext>
                </a:extLst>
              </a:tr>
              <a:tr h="651164">
                <a:tc>
                  <a:txBody>
                    <a:bodyPr/>
                    <a:lstStyle/>
                    <a:p>
                      <a:r>
                        <a:rPr lang="en-US" sz="2800" b="1" i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c[^</a:t>
                      </a:r>
                      <a:r>
                        <a:rPr lang="en-US" sz="2800" b="1" i="1" kern="1200" dirty="0" err="1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aui</a:t>
                      </a:r>
                      <a:r>
                        <a:rPr lang="en-US" sz="2800" b="1" i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]t</a:t>
                      </a:r>
                      <a:endParaRPr lang="ru-RU" sz="2800" b="1" i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i="1" kern="1200" dirty="0" err="1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cbt</a:t>
                      </a:r>
                      <a:r>
                        <a:rPr lang="en-US" sz="2800" b="1" i="1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1" i="1" kern="1200" dirty="0" err="1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cct</a:t>
                      </a:r>
                      <a:r>
                        <a:rPr lang="en-US" sz="2800" b="1" i="1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c2t </a:t>
                      </a:r>
                      <a:r>
                        <a:rPr lang="ru-RU" sz="2800" b="1" i="1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т.д.</a:t>
                      </a:r>
                      <a:endParaRPr lang="ru-RU" sz="2800" b="1" i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544723"/>
                  </a:ext>
                </a:extLst>
              </a:tr>
              <a:tr h="651164">
                <a:tc>
                  <a:txBody>
                    <a:bodyPr/>
                    <a:lstStyle/>
                    <a:p>
                      <a:r>
                        <a:rPr lang="en-US" sz="2800" b="1" i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c[^a-c]t</a:t>
                      </a:r>
                      <a:endParaRPr lang="ru-RU" sz="2800" b="1" i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i="1" kern="1200" dirty="0" err="1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cdt</a:t>
                      </a:r>
                      <a:r>
                        <a:rPr lang="en-US" sz="2800" b="1" i="1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1" i="1" kern="1200" dirty="0" err="1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cet</a:t>
                      </a:r>
                      <a:r>
                        <a:rPr lang="en-US" sz="2800" b="1" i="1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800" b="1" i="1" kern="1200" dirty="0" err="1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c%t</a:t>
                      </a:r>
                      <a:r>
                        <a:rPr lang="en-US" sz="2800" b="1" i="1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ru-RU" sz="2800" b="1" i="1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237547"/>
                  </a:ext>
                </a:extLst>
              </a:tr>
              <a:tr h="651164">
                <a:tc>
                  <a:txBody>
                    <a:bodyPr/>
                    <a:lstStyle/>
                    <a:p>
                      <a:endParaRPr lang="ru-RU" sz="2400" b="1" i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79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989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B19063-190F-4FDF-8EBF-6EE007CD8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382" y="365126"/>
            <a:ext cx="10342418" cy="97876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cap="all" dirty="0"/>
              <a:t>управляющие символы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30227D94-3C5E-422D-8144-0B489F50DF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7429799"/>
              </p:ext>
            </p:extLst>
          </p:nvPr>
        </p:nvGraphicFramePr>
        <p:xfrm>
          <a:off x="1676399" y="1690688"/>
          <a:ext cx="5458692" cy="51097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8930">
                  <a:extLst>
                    <a:ext uri="{9D8B030D-6E8A-4147-A177-3AD203B41FA5}">
                      <a16:colId xmlns:a16="http://schemas.microsoft.com/office/drawing/2014/main" val="1052536644"/>
                    </a:ext>
                  </a:extLst>
                </a:gridCol>
                <a:gridCol w="2555527">
                  <a:extLst>
                    <a:ext uri="{9D8B030D-6E8A-4147-A177-3AD203B41FA5}">
                      <a16:colId xmlns:a16="http://schemas.microsoft.com/office/drawing/2014/main" val="3270677978"/>
                    </a:ext>
                  </a:extLst>
                </a:gridCol>
                <a:gridCol w="1664235">
                  <a:extLst>
                    <a:ext uri="{9D8B030D-6E8A-4147-A177-3AD203B41FA5}">
                      <a16:colId xmlns:a16="http://schemas.microsoft.com/office/drawing/2014/main" val="2664644630"/>
                    </a:ext>
                  </a:extLst>
                </a:gridCol>
              </a:tblGrid>
              <a:tr h="4340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Use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To match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Unicode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3695967"/>
                  </a:ext>
                </a:extLst>
              </a:tr>
              <a:tr h="4340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\t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Horizontal tab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\u0009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36780491"/>
                  </a:ext>
                </a:extLst>
              </a:tr>
              <a:tr h="4340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\v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Vertical tab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\u000B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1990324"/>
                  </a:ext>
                </a:extLst>
              </a:tr>
              <a:tr h="4340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\b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Backspace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 dirty="0">
                          <a:effectLst/>
                        </a:rPr>
                        <a:t>\u0008</a:t>
                      </a:r>
                      <a:endParaRPr lang="ru-RU" sz="2800" spc="-25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4413798"/>
                  </a:ext>
                </a:extLst>
              </a:tr>
              <a:tr h="4340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\e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Escape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\u001B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4256754"/>
                  </a:ext>
                </a:extLst>
              </a:tr>
              <a:tr h="4340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\r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Carriage return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\u000D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2890101"/>
                  </a:ext>
                </a:extLst>
              </a:tr>
              <a:tr h="4340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\f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Form feed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\u000C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8364911"/>
                  </a:ext>
                </a:extLst>
              </a:tr>
              <a:tr h="4340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\n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New line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\u000A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2820649"/>
                  </a:ext>
                </a:extLst>
              </a:tr>
              <a:tr h="4340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\a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Bell (alarm)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\u0007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4729368"/>
                  </a:ext>
                </a:extLst>
              </a:tr>
              <a:tr h="8952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\c char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ASCII control character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 dirty="0">
                          <a:effectLst/>
                          <a:sym typeface="Symbol" panose="05050102010706020507" pitchFamily="18" charset="2"/>
                        </a:rPr>
                        <a:t></a:t>
                      </a:r>
                      <a:endParaRPr lang="ru-RU" sz="2800" spc="-25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2846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0543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4F786B-A502-47EC-820F-435CA050E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3054" y="365125"/>
            <a:ext cx="10120745" cy="89563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cap="all" dirty="0"/>
              <a:t>character classes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0D2FD47-4E0A-4B12-8634-843780BC1E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9153958"/>
              </p:ext>
            </p:extLst>
          </p:nvPr>
        </p:nvGraphicFramePr>
        <p:xfrm>
          <a:off x="975426" y="812944"/>
          <a:ext cx="10241147" cy="60573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53992">
                  <a:extLst>
                    <a:ext uri="{9D8B030D-6E8A-4147-A177-3AD203B41FA5}">
                      <a16:colId xmlns:a16="http://schemas.microsoft.com/office/drawing/2014/main" val="440350468"/>
                    </a:ext>
                  </a:extLst>
                </a:gridCol>
                <a:gridCol w="7787155">
                  <a:extLst>
                    <a:ext uri="{9D8B030D-6E8A-4147-A177-3AD203B41FA5}">
                      <a16:colId xmlns:a16="http://schemas.microsoft.com/office/drawing/2014/main" val="3932747065"/>
                    </a:ext>
                  </a:extLst>
                </a:gridCol>
              </a:tblGrid>
              <a:tr h="4731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Use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To match character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4634382"/>
                  </a:ext>
                </a:extLst>
              </a:tr>
              <a:tr h="9757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\p{ctgry}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 dirty="0">
                          <a:effectLst/>
                        </a:rPr>
                        <a:t>In that Unicode category or block</a:t>
                      </a:r>
                      <a:endParaRPr lang="ru-RU" sz="2800" spc="-25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1348706"/>
                  </a:ext>
                </a:extLst>
              </a:tr>
              <a:tr h="9757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\P{ctgry}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Not in that Unicode category or block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8253169"/>
                  </a:ext>
                </a:extLst>
              </a:tr>
              <a:tr h="4731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\w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 dirty="0">
                          <a:effectLst/>
                        </a:rPr>
                        <a:t>Word character</a:t>
                      </a:r>
                      <a:r>
                        <a:rPr lang="ru-RU" sz="2800" spc="-25" dirty="0">
                          <a:effectLst/>
                        </a:rPr>
                        <a:t>.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Любая буква (то, что может быть частью слова), а также цифры и </a:t>
                      </a:r>
                      <a:r>
                        <a:rPr lang="ru-RU" sz="2800" dirty="0"/>
                        <a:t>_</a:t>
                      </a:r>
                      <a:endParaRPr lang="ru-RU" sz="2800" spc="-25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1737265"/>
                  </a:ext>
                </a:extLst>
              </a:tr>
              <a:tr h="4731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\W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 dirty="0">
                          <a:effectLst/>
                        </a:rPr>
                        <a:t>Non-word character</a:t>
                      </a:r>
                      <a:r>
                        <a:rPr lang="ru-RU" sz="2800" spc="-25" dirty="0">
                          <a:effectLst/>
                        </a:rPr>
                        <a:t>.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Любая не-буква, не-цифра и не подчёркивание</a:t>
                      </a:r>
                      <a:endParaRPr lang="ru-RU" sz="2800" spc="-25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344094"/>
                  </a:ext>
                </a:extLst>
              </a:tr>
              <a:tr h="4731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\d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Decimal digit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7000338"/>
                  </a:ext>
                </a:extLst>
              </a:tr>
              <a:tr h="4731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\D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 dirty="0">
                          <a:effectLst/>
                        </a:rPr>
                        <a:t>Not a decimal digit</a:t>
                      </a:r>
                      <a:r>
                        <a:rPr lang="ru-RU" sz="2800" spc="-25" dirty="0">
                          <a:effectLst/>
                        </a:rPr>
                        <a:t>.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Любой символ, кроме цифры</a:t>
                      </a:r>
                      <a:endParaRPr lang="ru-RU" sz="2800" spc="-25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02371537"/>
                  </a:ext>
                </a:extLst>
              </a:tr>
              <a:tr h="4731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\s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 dirty="0">
                          <a:effectLst/>
                        </a:rPr>
                        <a:t>White-space character</a:t>
                      </a:r>
                      <a:r>
                        <a:rPr lang="ru-RU" sz="2800" spc="-25" dirty="0">
                          <a:effectLst/>
                        </a:rPr>
                        <a:t>.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Любой пробельный символ (пробел, табуляция, конец строки и т.п.)</a:t>
                      </a:r>
                      <a:endParaRPr lang="ru-RU" sz="2800" spc="-25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1877668"/>
                  </a:ext>
                </a:extLst>
              </a:tr>
              <a:tr h="4731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\S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 dirty="0">
                          <a:effectLst/>
                        </a:rPr>
                        <a:t>Non-white-space char</a:t>
                      </a:r>
                      <a:r>
                        <a:rPr lang="ru-RU" sz="2800" spc="-25" dirty="0">
                          <a:effectLst/>
                        </a:rPr>
                        <a:t>.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Любой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непробельный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символ</a:t>
                      </a:r>
                      <a:endParaRPr lang="ru-RU" sz="2800" spc="-25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1880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0569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B7115E-BEFF-497F-BA68-366DFA103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1" y="121023"/>
            <a:ext cx="9788236" cy="6324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Примеры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22969F-CED1-4E05-8F6A-0D6F27B49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302327"/>
            <a:ext cx="11804073" cy="4874636"/>
          </a:xfrm>
        </p:spPr>
        <p:txBody>
          <a:bodyPr/>
          <a:lstStyle/>
          <a:p>
            <a:pPr marL="0" indent="0">
              <a:buNone/>
            </a:pPr>
            <a:endParaRPr lang="en-US" sz="32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4C68C63-E10B-4A2E-B3A6-C059C819B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340102"/>
              </p:ext>
            </p:extLst>
          </p:nvPr>
        </p:nvGraphicFramePr>
        <p:xfrm>
          <a:off x="429491" y="744670"/>
          <a:ext cx="11485418" cy="515736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726565">
                  <a:extLst>
                    <a:ext uri="{9D8B030D-6E8A-4147-A177-3AD203B41FA5}">
                      <a16:colId xmlns:a16="http://schemas.microsoft.com/office/drawing/2014/main" val="1377022596"/>
                    </a:ext>
                  </a:extLst>
                </a:gridCol>
                <a:gridCol w="6758853">
                  <a:extLst>
                    <a:ext uri="{9D8B030D-6E8A-4147-A177-3AD203B41FA5}">
                      <a16:colId xmlns:a16="http://schemas.microsoft.com/office/drawing/2014/main" val="2134303652"/>
                    </a:ext>
                  </a:extLst>
                </a:gridCol>
              </a:tblGrid>
              <a:tr h="528006">
                <a:tc>
                  <a:txBody>
                    <a:bodyPr/>
                    <a:lstStyle/>
                    <a:p>
                      <a:r>
                        <a:rPr lang="ru-RU" sz="2800" b="1" i="1" dirty="0">
                          <a:solidFill>
                            <a:srgbClr val="C00000"/>
                          </a:solidFill>
                        </a:rPr>
                        <a:t>Выражение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1" i="1" dirty="0">
                          <a:solidFill>
                            <a:schemeClr val="accent1"/>
                          </a:solidFill>
                        </a:rPr>
                        <a:t>Фрагмент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042547"/>
                  </a:ext>
                </a:extLst>
              </a:tr>
              <a:tr h="730912">
                <a:tc>
                  <a:txBody>
                    <a:bodyPr/>
                    <a:lstStyle/>
                    <a:p>
                      <a:r>
                        <a:rPr lang="en-US" sz="2800" b="1" i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c\</a:t>
                      </a:r>
                      <a:r>
                        <a:rPr lang="en-US" sz="2800" b="1" i="1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wt</a:t>
                      </a:r>
                      <a:r>
                        <a:rPr lang="en-US" sz="2800" b="1" i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ru-RU" sz="2800" b="1" i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1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cbt</a:t>
                      </a:r>
                      <a:r>
                        <a:rPr lang="ru-RU" sz="2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ru-RU" sz="28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cct</a:t>
                      </a:r>
                      <a:r>
                        <a:rPr lang="ru-RU" sz="2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c2t </a:t>
                      </a:r>
                      <a:r>
                        <a:rPr lang="ru-RU" sz="2800" b="0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т.д., но не  </a:t>
                      </a:r>
                      <a:r>
                        <a:rPr lang="ru-RU" sz="28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c%t</a:t>
                      </a:r>
                      <a:r>
                        <a:rPr lang="ru-RU" sz="2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c{t</a:t>
                      </a:r>
                      <a:r>
                        <a:rPr lang="ru-RU" sz="2800" b="0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и т.д.</a:t>
                      </a:r>
                      <a:endParaRPr lang="ru-RU" sz="2800" b="1" i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294340"/>
                  </a:ext>
                </a:extLst>
              </a:tr>
              <a:tr h="730912">
                <a:tc>
                  <a:txBody>
                    <a:bodyPr/>
                    <a:lstStyle/>
                    <a:p>
                      <a:r>
                        <a:rPr lang="en-US" sz="2800" b="1" i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c\</a:t>
                      </a:r>
                      <a:r>
                        <a:rPr lang="en-US" sz="2800" b="1" i="1" kern="1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Wt</a:t>
                      </a:r>
                      <a:endParaRPr lang="ru-RU" sz="2800" b="1" i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c%t</a:t>
                      </a:r>
                      <a:r>
                        <a:rPr lang="ru-RU" sz="2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c{t, c. </a:t>
                      </a:r>
                      <a:r>
                        <a:rPr lang="en-US" sz="2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 </a:t>
                      </a:r>
                      <a:r>
                        <a:rPr lang="ru-RU" sz="2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но не  </a:t>
                      </a:r>
                      <a:r>
                        <a:rPr lang="ru-RU" sz="2800" b="0" i="1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cbt</a:t>
                      </a:r>
                      <a:r>
                        <a:rPr lang="ru-RU" sz="2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ru-RU" sz="2800" b="0" i="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cct</a:t>
                      </a:r>
                      <a:r>
                        <a:rPr lang="ru-RU" sz="2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c2t и т.д.</a:t>
                      </a:r>
                      <a:endParaRPr lang="ru-RU" sz="2800" b="1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334223"/>
                  </a:ext>
                </a:extLst>
              </a:tr>
              <a:tr h="1055762">
                <a:tc>
                  <a:txBody>
                    <a:bodyPr/>
                    <a:lstStyle/>
                    <a:p>
                      <a:r>
                        <a:rPr lang="pl-PL" sz="2800" b="1" i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\s\w\w\w\s</a:t>
                      </a:r>
                      <a:endParaRPr lang="ru-RU" sz="2800" b="1" i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Любое слово из трех букв, окруженное пробельными символами.</a:t>
                      </a:r>
                      <a:endParaRPr lang="ru-RU" sz="2800" b="1" i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575421"/>
                  </a:ext>
                </a:extLst>
              </a:tr>
              <a:tr h="1055762">
                <a:tc>
                  <a:txBody>
                    <a:bodyPr/>
                    <a:lstStyle/>
                    <a:p>
                      <a:r>
                        <a:rPr lang="en-US" sz="2800" b="1" i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\s\S\S\S\s </a:t>
                      </a:r>
                      <a:endParaRPr lang="ru-RU" sz="2800" b="1" i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Любые три </a:t>
                      </a:r>
                      <a:r>
                        <a:rPr lang="ru-RU" sz="2800" b="0" i="0" kern="1200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непробельных</a:t>
                      </a:r>
                      <a:r>
                        <a:rPr lang="ru-RU" sz="2800" b="0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символа, окруженные пробельными.</a:t>
                      </a:r>
                      <a:endParaRPr lang="ru-RU" sz="2800" b="1" i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544723"/>
                  </a:ext>
                </a:extLst>
              </a:tr>
              <a:tr h="528006">
                <a:tc>
                  <a:txBody>
                    <a:bodyPr/>
                    <a:lstStyle/>
                    <a:p>
                      <a:r>
                        <a:rPr lang="en-US" sz="2800" b="1" i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c\dt</a:t>
                      </a:r>
                      <a:endParaRPr lang="ru-RU" sz="2800" b="1" i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c1t, c2t, c3t </a:t>
                      </a:r>
                      <a:endParaRPr lang="ru-RU" sz="2800" b="1" i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237547"/>
                  </a:ext>
                </a:extLst>
              </a:tr>
              <a:tr h="528006">
                <a:tc>
                  <a:txBody>
                    <a:bodyPr/>
                    <a:lstStyle/>
                    <a:p>
                      <a:r>
                        <a:rPr lang="en-US" sz="2800" b="1" i="1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c\Dt</a:t>
                      </a:r>
                      <a:endParaRPr lang="ru-RU" sz="2800" b="1" i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800" b="0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 </a:t>
                      </a:r>
                      <a:r>
                        <a:rPr lang="en-US" sz="2800" b="0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c1t, c2t, c3t </a:t>
                      </a:r>
                      <a:r>
                        <a:rPr lang="ru-RU" sz="2800" b="0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т.д.</a:t>
                      </a:r>
                      <a:endParaRPr lang="ru-RU" sz="2800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79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547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4E737C-77BF-442F-A907-D04E23422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Уточняющие символы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5B6B5E92-7F39-43B9-AED3-1152A97923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2430759"/>
              </p:ext>
            </p:extLst>
          </p:nvPr>
        </p:nvGraphicFramePr>
        <p:xfrm>
          <a:off x="2452255" y="1019418"/>
          <a:ext cx="6927272" cy="54375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5346">
                  <a:extLst>
                    <a:ext uri="{9D8B030D-6E8A-4147-A177-3AD203B41FA5}">
                      <a16:colId xmlns:a16="http://schemas.microsoft.com/office/drawing/2014/main" val="3456783168"/>
                    </a:ext>
                  </a:extLst>
                </a:gridCol>
                <a:gridCol w="5631926">
                  <a:extLst>
                    <a:ext uri="{9D8B030D-6E8A-4147-A177-3AD203B41FA5}">
                      <a16:colId xmlns:a16="http://schemas.microsoft.com/office/drawing/2014/main" val="900368564"/>
                    </a:ext>
                  </a:extLst>
                </a:gridCol>
              </a:tblGrid>
              <a:tr h="4154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 dirty="0">
                          <a:effectLst/>
                        </a:rPr>
                        <a:t>Use</a:t>
                      </a:r>
                      <a:endParaRPr lang="ru-RU" sz="2800" spc="-25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To specify position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0391019"/>
                  </a:ext>
                </a:extLst>
              </a:tr>
              <a:tr h="4154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^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At start of string or line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4400392"/>
                  </a:ext>
                </a:extLst>
              </a:tr>
              <a:tr h="4154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\A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 dirty="0">
                          <a:effectLst/>
                        </a:rPr>
                        <a:t>At start of string</a:t>
                      </a:r>
                      <a:r>
                        <a:rPr lang="ru-RU" sz="2800" spc="-25" dirty="0">
                          <a:effectLst/>
                        </a:rPr>
                        <a:t> (многострочная)</a:t>
                      </a:r>
                      <a:endParaRPr lang="ru-RU" sz="2800" spc="-25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5688195"/>
                  </a:ext>
                </a:extLst>
              </a:tr>
              <a:tr h="4154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\z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At end of string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13415237"/>
                  </a:ext>
                </a:extLst>
              </a:tr>
              <a:tr h="856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\Z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At end (or before \n at end) of string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9657497"/>
                  </a:ext>
                </a:extLst>
              </a:tr>
              <a:tr h="856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$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At end (or before \n at end) of string or line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8778306"/>
                  </a:ext>
                </a:extLst>
              </a:tr>
              <a:tr h="85675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\G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Where previous match ended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9429453"/>
                  </a:ext>
                </a:extLst>
              </a:tr>
              <a:tr h="4154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\b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On word boundary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7772612"/>
                  </a:ext>
                </a:extLst>
              </a:tr>
              <a:tr h="4154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\B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 dirty="0">
                          <a:effectLst/>
                        </a:rPr>
                        <a:t>Not on word boundary</a:t>
                      </a:r>
                      <a:endParaRPr lang="ru-RU" sz="2800" spc="-25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3263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717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1E9B6D-14C9-4427-ABDA-5890017BB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/>
              <a:t>Повторители или квантификаторы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7C6E159F-B579-4936-AF5C-7D5015EAC4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6078168"/>
              </p:ext>
            </p:extLst>
          </p:nvPr>
        </p:nvGraphicFramePr>
        <p:xfrm>
          <a:off x="1773383" y="1856510"/>
          <a:ext cx="7065818" cy="463636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66948">
                  <a:extLst>
                    <a:ext uri="{9D8B030D-6E8A-4147-A177-3AD203B41FA5}">
                      <a16:colId xmlns:a16="http://schemas.microsoft.com/office/drawing/2014/main" val="2259032873"/>
                    </a:ext>
                  </a:extLst>
                </a:gridCol>
                <a:gridCol w="1266948">
                  <a:extLst>
                    <a:ext uri="{9D8B030D-6E8A-4147-A177-3AD203B41FA5}">
                      <a16:colId xmlns:a16="http://schemas.microsoft.com/office/drawing/2014/main" val="3356030552"/>
                    </a:ext>
                  </a:extLst>
                </a:gridCol>
                <a:gridCol w="4531922">
                  <a:extLst>
                    <a:ext uri="{9D8B030D-6E8A-4147-A177-3AD203B41FA5}">
                      <a16:colId xmlns:a16="http://schemas.microsoft.com/office/drawing/2014/main" val="344903495"/>
                    </a:ext>
                  </a:extLst>
                </a:gridCol>
              </a:tblGrid>
              <a:tr h="9819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 dirty="0">
                          <a:effectLst/>
                        </a:rPr>
                        <a:t>Greedy</a:t>
                      </a:r>
                      <a:endParaRPr lang="ru-RU" sz="2800" spc="-25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 dirty="0">
                          <a:effectLst/>
                        </a:rPr>
                        <a:t>Lazy</a:t>
                      </a:r>
                      <a:endParaRPr lang="ru-RU" sz="2800" spc="-25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Matches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7273194"/>
                  </a:ext>
                </a:extLst>
              </a:tr>
              <a:tr h="5345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*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*?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0 or more times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2949143"/>
                  </a:ext>
                </a:extLst>
              </a:tr>
              <a:tr h="5345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+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+?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1 or more times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735083"/>
                  </a:ext>
                </a:extLst>
              </a:tr>
              <a:tr h="5345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?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??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0 or 1 time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5665537"/>
                  </a:ext>
                </a:extLst>
              </a:tr>
              <a:tr h="5345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{n}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{n}?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Exactly n times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5712415"/>
                  </a:ext>
                </a:extLst>
              </a:tr>
              <a:tr h="5345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{n,}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{n,}?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At least n times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7862679"/>
                  </a:ext>
                </a:extLst>
              </a:tr>
              <a:tr h="9819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{n,m}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>
                          <a:effectLst/>
                        </a:rPr>
                        <a:t>{n,m}?</a:t>
                      </a:r>
                      <a:endParaRPr lang="ru-RU" sz="2800" spc="-25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800" spc="-25" dirty="0">
                          <a:effectLst/>
                        </a:rPr>
                        <a:t>From n to m times</a:t>
                      </a:r>
                      <a:endParaRPr lang="ru-RU" sz="2800" spc="-25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6736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514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6BB67B-8566-4049-ADAA-2C610A3D1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Про квантификаторы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0EFC6D-D637-4187-B9E3-2485F56EF7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3143" y="2713641"/>
            <a:ext cx="11117943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-apple-system"/>
              </a:rPr>
              <a:t>По умолчанию квантификаторы </a:t>
            </a:r>
            <a:r>
              <a:rPr kumimoji="0" lang="ru-RU" altLang="ru-RU" sz="3600" b="0" i="1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-apple-system"/>
              </a:rPr>
              <a:t>жадные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-apple-system"/>
              </a:rPr>
              <a:t> —</a:t>
            </a:r>
            <a:b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-apple-system"/>
              </a:rPr>
              <a:t>захватывают максимально возможное число символов.</a:t>
            </a:r>
            <a:b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-apple-system"/>
              </a:rPr>
              <a:t>Добавление </a:t>
            </a:r>
            <a:r>
              <a:rPr kumimoji="0" lang="ru-RU" altLang="ru-RU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Menlo"/>
              </a:rPr>
              <a:t>?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-apple-system"/>
              </a:rPr>
              <a:t> делает их </a:t>
            </a:r>
            <a:r>
              <a:rPr kumimoji="0" lang="ru-RU" altLang="ru-RU" sz="3600" b="0" i="1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-apple-system"/>
              </a:rPr>
              <a:t>ленивыми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-apple-system"/>
              </a:rPr>
              <a:t>,</a:t>
            </a:r>
            <a:b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-apple-system"/>
              </a:rPr>
              <a:t>они захватывают минимально возможное число символов.</a:t>
            </a:r>
            <a:r>
              <a:rPr kumimoji="0" lang="ru-RU" altLang="ru-RU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264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B7115E-BEFF-497F-BA68-366DFA103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1" y="121023"/>
            <a:ext cx="9788236" cy="632400"/>
          </a:xfrm>
        </p:spPr>
        <p:txBody>
          <a:bodyPr>
            <a:normAutofit fontScale="90000"/>
          </a:bodyPr>
          <a:lstStyle/>
          <a:p>
            <a:pPr algn="ctr"/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22969F-CED1-4E05-8F6A-0D6F27B49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302327"/>
            <a:ext cx="11804073" cy="4874636"/>
          </a:xfrm>
        </p:spPr>
        <p:txBody>
          <a:bodyPr/>
          <a:lstStyle/>
          <a:p>
            <a:pPr marL="0" indent="0">
              <a:buNone/>
            </a:pPr>
            <a:endParaRPr lang="en-US" sz="3200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4C68C63-E10B-4A2E-B3A6-C059C819B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282112"/>
              </p:ext>
            </p:extLst>
          </p:nvPr>
        </p:nvGraphicFramePr>
        <p:xfrm>
          <a:off x="595744" y="121023"/>
          <a:ext cx="10640292" cy="615508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89386">
                  <a:extLst>
                    <a:ext uri="{9D8B030D-6E8A-4147-A177-3AD203B41FA5}">
                      <a16:colId xmlns:a16="http://schemas.microsoft.com/office/drawing/2014/main" val="1377022596"/>
                    </a:ext>
                  </a:extLst>
                </a:gridCol>
                <a:gridCol w="2189386">
                  <a:extLst>
                    <a:ext uri="{9D8B030D-6E8A-4147-A177-3AD203B41FA5}">
                      <a16:colId xmlns:a16="http://schemas.microsoft.com/office/drawing/2014/main" val="152794219"/>
                    </a:ext>
                  </a:extLst>
                </a:gridCol>
                <a:gridCol w="3130760">
                  <a:extLst>
                    <a:ext uri="{9D8B030D-6E8A-4147-A177-3AD203B41FA5}">
                      <a16:colId xmlns:a16="http://schemas.microsoft.com/office/drawing/2014/main" val="2134303652"/>
                    </a:ext>
                  </a:extLst>
                </a:gridCol>
                <a:gridCol w="3130760">
                  <a:extLst>
                    <a:ext uri="{9D8B030D-6E8A-4147-A177-3AD203B41FA5}">
                      <a16:colId xmlns:a16="http://schemas.microsoft.com/office/drawing/2014/main" val="344857571"/>
                    </a:ext>
                  </a:extLst>
                </a:gridCol>
              </a:tblGrid>
              <a:tr h="656654">
                <a:tc gridSpan="2">
                  <a:txBody>
                    <a:bodyPr/>
                    <a:lstStyle/>
                    <a:p>
                      <a:r>
                        <a:rPr lang="ru-RU" sz="2800" b="1" i="1" dirty="0">
                          <a:solidFill>
                            <a:srgbClr val="C00000"/>
                          </a:solidFill>
                        </a:rPr>
                        <a:t>Выражение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ru-RU" sz="2400" b="1" i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Фрагмент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8042547"/>
                  </a:ext>
                </a:extLst>
              </a:tr>
              <a:tr h="687164">
                <a:tc gridSpan="2">
                  <a:txBody>
                    <a:bodyPr/>
                    <a:lstStyle/>
                    <a:p>
                      <a:r>
                        <a:rPr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ca*t</a:t>
                      </a:r>
                      <a:endParaRPr lang="ru-RU" sz="2400" b="1" i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2400" b="1" i="0" kern="1200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ct</a:t>
                      </a:r>
                      <a:r>
                        <a:rPr lang="en-US" sz="2400" b="1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cat, </a:t>
                      </a:r>
                      <a:r>
                        <a:rPr lang="en-US" sz="2400" b="1" i="0" kern="1200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caat</a:t>
                      </a:r>
                      <a:r>
                        <a:rPr lang="en-US" sz="2400" b="1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400" b="1" i="0" kern="1200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caaat</a:t>
                      </a:r>
                      <a:endParaRPr lang="ru-RU" sz="2400" b="1" i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294340"/>
                  </a:ext>
                </a:extLst>
              </a:tr>
              <a:tr h="722107">
                <a:tc gridSpan="2">
                  <a:txBody>
                    <a:bodyPr/>
                    <a:lstStyle/>
                    <a:p>
                      <a:r>
                        <a:rPr lang="en-US" sz="2400" b="1" i="0" kern="1200" dirty="0" err="1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ca+t</a:t>
                      </a:r>
                      <a:r>
                        <a:rPr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ru-RU" sz="2400" b="1" i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2400" b="1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cat, </a:t>
                      </a:r>
                      <a:r>
                        <a:rPr lang="en-US" sz="2400" b="1" i="0" kern="1200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caat</a:t>
                      </a:r>
                      <a:r>
                        <a:rPr lang="en-US" sz="2400" b="1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400" b="1" i="0" kern="1200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caaat</a:t>
                      </a:r>
                      <a:endParaRPr lang="ru-RU" sz="2400" b="1" i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334223"/>
                  </a:ext>
                </a:extLst>
              </a:tr>
              <a:tr h="657950">
                <a:tc gridSpan="2">
                  <a:txBody>
                    <a:bodyPr/>
                    <a:lstStyle/>
                    <a:p>
                      <a:r>
                        <a:rPr lang="en-US" sz="2400" b="1" i="0" kern="1200" dirty="0" err="1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ca?t</a:t>
                      </a:r>
                      <a:r>
                        <a:rPr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ru-RU" sz="2400" b="1" i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2400" b="1" i="0" kern="1200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ct</a:t>
                      </a:r>
                      <a:r>
                        <a:rPr lang="en-US" sz="2400" b="1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cat</a:t>
                      </a:r>
                      <a:endParaRPr lang="ru-RU" sz="2400" b="1" i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0575421"/>
                  </a:ext>
                </a:extLst>
              </a:tr>
              <a:tr h="748080">
                <a:tc gridSpan="2">
                  <a:txBody>
                    <a:bodyPr/>
                    <a:lstStyle/>
                    <a:p>
                      <a:r>
                        <a:rPr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ca{3}t</a:t>
                      </a:r>
                      <a:endParaRPr lang="ru-RU" sz="2400" b="1" i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2400" b="1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ru-RU" sz="2400" b="1" i="0" kern="1200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ааа</a:t>
                      </a:r>
                      <a:r>
                        <a:rPr lang="en-US" sz="2400" b="1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endParaRPr lang="ru-RU" sz="2400" b="1" i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544723"/>
                  </a:ext>
                </a:extLst>
              </a:tr>
              <a:tr h="656654">
                <a:tc gridSpan="2">
                  <a:txBody>
                    <a:bodyPr/>
                    <a:lstStyle/>
                    <a:p>
                      <a:r>
                        <a:rPr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(cat){2}</a:t>
                      </a:r>
                      <a:endParaRPr lang="ru-RU" sz="2400" b="1" i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2400" b="1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ru-RU" sz="2400" b="1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</a:t>
                      </a:r>
                      <a:r>
                        <a:rPr lang="en-US" sz="2400" b="1" i="0" kern="1200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tcat</a:t>
                      </a:r>
                      <a:endParaRPr lang="ru-RU" sz="2400" b="1" i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237547"/>
                  </a:ext>
                </a:extLst>
              </a:tr>
              <a:tr h="904357">
                <a:tc gridSpan="2">
                  <a:txBody>
                    <a:bodyPr/>
                    <a:lstStyle/>
                    <a:p>
                      <a:r>
                        <a:rPr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ca{3, }t</a:t>
                      </a:r>
                      <a:endParaRPr lang="ru-RU" sz="2400" b="1" i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2400" b="1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ru-RU" sz="2400" b="1" i="0" kern="1200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ааа</a:t>
                      </a:r>
                      <a:r>
                        <a:rPr lang="en-US" sz="2400" b="1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t, </a:t>
                      </a:r>
                      <a:r>
                        <a:rPr lang="en-US" sz="2400" b="1" i="0" kern="1200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caaaat</a:t>
                      </a:r>
                      <a:r>
                        <a:rPr lang="en-US" sz="2400" b="1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400" b="1" i="0" kern="1200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caaaaaaat</a:t>
                      </a:r>
                      <a:endParaRPr lang="ru-RU" sz="2400" b="1" i="0" kern="1200" dirty="0">
                        <a:solidFill>
                          <a:schemeClr val="accent5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sz="24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79516"/>
                  </a:ext>
                </a:extLst>
              </a:tr>
              <a:tr h="561060">
                <a:tc>
                  <a:txBody>
                    <a:bodyPr/>
                    <a:lstStyle/>
                    <a:p>
                      <a:r>
                        <a:rPr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(cat){2, }</a:t>
                      </a:r>
                      <a:endParaRPr lang="ru-RU" sz="2400" b="1" i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b="1" i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i="0" kern="1200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catcat</a:t>
                      </a:r>
                      <a:r>
                        <a:rPr lang="en-US" sz="2400" b="1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sz="2400" b="1" i="0" kern="1200" dirty="0" err="1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catcatcat</a:t>
                      </a:r>
                      <a:endParaRPr lang="ru-RU" sz="24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807324"/>
                  </a:ext>
                </a:extLst>
              </a:tr>
              <a:tr h="561060">
                <a:tc>
                  <a:txBody>
                    <a:bodyPr/>
                    <a:lstStyle/>
                    <a:p>
                      <a:r>
                        <a:rPr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ca{2, 4}t</a:t>
                      </a:r>
                      <a:endParaRPr lang="ru-RU" sz="2400" b="1" i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b="1" i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b="1" i="0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cааt, caaat, caaaat</a:t>
                      </a:r>
                      <a:endParaRPr lang="ru-RU" sz="24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2400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150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9169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0ED2A3-1AA5-404B-B232-FC8595213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7E5D2F-E8E0-4C9F-AB24-293E0F13F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ru-RU" b="1" dirty="0"/>
              <a:t>Язык регулярных выражений в </a:t>
            </a:r>
            <a:r>
              <a:rPr lang="en-US" b="1" dirty="0"/>
              <a:t>Python</a:t>
            </a:r>
          </a:p>
          <a:p>
            <a:pPr marL="457200" indent="-457200">
              <a:buAutoNum type="arabicPeriod"/>
            </a:pPr>
            <a:r>
              <a:rPr lang="ru-RU" dirty="0">
                <a:solidFill>
                  <a:srgbClr val="FF0000"/>
                </a:solidFill>
              </a:rPr>
              <a:t>Модуль для работы с регулярными выражениями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9869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4B9DCA-5D93-4DD8-9FEA-7DBE31850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09" y="365125"/>
            <a:ext cx="10868891" cy="1325563"/>
          </a:xfrm>
        </p:spPr>
        <p:txBody>
          <a:bodyPr/>
          <a:lstStyle/>
          <a:p>
            <a:pPr algn="ctr"/>
            <a:r>
              <a:rPr lang="en-US" i="1" dirty="0">
                <a:solidFill>
                  <a:srgbClr val="FF0000"/>
                </a:solidFill>
              </a:rPr>
              <a:t>pattern, string</a:t>
            </a:r>
            <a:endParaRPr lang="ru-RU" i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AA0905-070C-4384-B793-CA9BEFD3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436" y="1690688"/>
            <a:ext cx="10633364" cy="4486275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sz="3200" dirty="0"/>
              <a:t>Два параметра в функциях модуля регулярных выражений </a:t>
            </a:r>
            <a:r>
              <a:rPr lang="en-US" sz="3200" b="1" i="1" dirty="0">
                <a:solidFill>
                  <a:srgbClr val="FF0000"/>
                </a:solidFill>
              </a:rPr>
              <a:t>re</a:t>
            </a:r>
            <a:r>
              <a:rPr lang="ru-RU" sz="3200" dirty="0"/>
              <a:t> 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ru-RU" sz="3200" dirty="0"/>
              <a:t>Шаблон регулярного выражения для определения текста.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ru-RU" sz="3200" dirty="0"/>
              <a:t>Текст, который будет проанализирован на соответствие шаблону регулярного выражения.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43123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2A9C47-3D85-4F6A-A612-5A426908F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A8C113F-393A-4061-8EAE-DC7EA9D234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7545709"/>
              </p:ext>
            </p:extLst>
          </p:nvPr>
        </p:nvGraphicFramePr>
        <p:xfrm>
          <a:off x="417284" y="365125"/>
          <a:ext cx="11368316" cy="5448300"/>
        </p:xfrm>
        <a:graphic>
          <a:graphicData uri="http://schemas.openxmlformats.org/drawingml/2006/table">
            <a:tbl>
              <a:tblPr/>
              <a:tblGrid>
                <a:gridCol w="5040087">
                  <a:extLst>
                    <a:ext uri="{9D8B030D-6E8A-4147-A177-3AD203B41FA5}">
                      <a16:colId xmlns:a16="http://schemas.microsoft.com/office/drawing/2014/main" val="2638875901"/>
                    </a:ext>
                  </a:extLst>
                </a:gridCol>
                <a:gridCol w="6328229">
                  <a:extLst>
                    <a:ext uri="{9D8B030D-6E8A-4147-A177-3AD203B41FA5}">
                      <a16:colId xmlns:a16="http://schemas.microsoft.com/office/drawing/2014/main" val="2324676082"/>
                    </a:ext>
                  </a:extLst>
                </a:gridCol>
              </a:tblGrid>
              <a:tr h="551697">
                <a:tc>
                  <a:txBody>
                    <a:bodyPr/>
                    <a:lstStyle/>
                    <a:p>
                      <a:pPr fontAlgn="t"/>
                      <a:r>
                        <a:rPr lang="ru-RU" sz="3200" dirty="0">
                          <a:effectLst/>
                        </a:rPr>
                        <a:t>Функция</a:t>
                      </a:r>
                    </a:p>
                  </a:txBody>
                  <a:tcPr marL="114300" marR="114300" marT="57150" marB="85725">
                    <a:lnL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3200" dirty="0">
                          <a:effectLst/>
                        </a:rPr>
                        <a:t>Её смысл</a:t>
                      </a:r>
                    </a:p>
                  </a:txBody>
                  <a:tcPr marL="114300" marR="114300" marT="57150" marB="85725">
                    <a:lnL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755755"/>
                  </a:ext>
                </a:extLst>
              </a:tr>
              <a:tr h="1277218">
                <a:tc>
                  <a:txBody>
                    <a:bodyPr/>
                    <a:lstStyle/>
                    <a:p>
                      <a:pPr fontAlgn="t"/>
                      <a:r>
                        <a:rPr lang="en-US" sz="3200" dirty="0" err="1">
                          <a:solidFill>
                            <a:srgbClr val="FF0000"/>
                          </a:solidFill>
                          <a:effectLst/>
                        </a:rPr>
                        <a:t>re.search</a:t>
                      </a:r>
                      <a:r>
                        <a:rPr lang="en-US" sz="3200" dirty="0">
                          <a:solidFill>
                            <a:srgbClr val="FF0000"/>
                          </a:solidFill>
                          <a:effectLst/>
                        </a:rPr>
                        <a:t>(pattern, string)</a:t>
                      </a:r>
                    </a:p>
                  </a:txBody>
                  <a:tcPr marL="114300" marR="114300" marT="57150" marB="85725">
                    <a:lnL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3200" dirty="0">
                          <a:effectLst/>
                        </a:rPr>
                        <a:t>Найти в строке </a:t>
                      </a:r>
                      <a:r>
                        <a:rPr lang="ru-RU" sz="3200" dirty="0" err="1">
                          <a:effectLst/>
                        </a:rPr>
                        <a:t>string</a:t>
                      </a:r>
                      <a:r>
                        <a:rPr lang="ru-RU" sz="3200" dirty="0">
                          <a:effectLst/>
                        </a:rPr>
                        <a:t> первую строчку, подходящую под шаблон </a:t>
                      </a:r>
                      <a:r>
                        <a:rPr lang="ru-RU" sz="3200" dirty="0" err="1">
                          <a:effectLst/>
                        </a:rPr>
                        <a:t>pattern</a:t>
                      </a:r>
                      <a:r>
                        <a:rPr lang="ru-RU" sz="3200" dirty="0">
                          <a:effectLst/>
                        </a:rPr>
                        <a:t>;</a:t>
                      </a:r>
                    </a:p>
                  </a:txBody>
                  <a:tcPr marL="114300" marR="114300" marT="57150" marB="85725">
                    <a:lnL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991080"/>
                  </a:ext>
                </a:extLst>
              </a:tr>
              <a:tr h="914458">
                <a:tc>
                  <a:txBody>
                    <a:bodyPr/>
                    <a:lstStyle/>
                    <a:p>
                      <a:pPr fontAlgn="t"/>
                      <a:r>
                        <a:rPr lang="en-US" sz="32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re.fullmatch</a:t>
                      </a:r>
                      <a:r>
                        <a:rPr lang="en-US" sz="32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(pattern, string)</a:t>
                      </a:r>
                    </a:p>
                  </a:txBody>
                  <a:tcPr marL="114300" marR="114300" marT="57150" marB="85725">
                    <a:lnL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3200" dirty="0">
                          <a:effectLst/>
                        </a:rPr>
                        <a:t>Проверить, подходит ли строка </a:t>
                      </a:r>
                      <a:r>
                        <a:rPr lang="ru-RU" sz="3200" dirty="0" err="1">
                          <a:effectLst/>
                        </a:rPr>
                        <a:t>string</a:t>
                      </a:r>
                      <a:r>
                        <a:rPr lang="ru-RU" sz="3200" dirty="0">
                          <a:effectLst/>
                        </a:rPr>
                        <a:t> под шаблон </a:t>
                      </a:r>
                      <a:r>
                        <a:rPr lang="ru-RU" sz="3200" dirty="0" err="1">
                          <a:effectLst/>
                        </a:rPr>
                        <a:t>pattern</a:t>
                      </a:r>
                      <a:r>
                        <a:rPr lang="ru-RU" sz="3200" dirty="0">
                          <a:effectLst/>
                        </a:rPr>
                        <a:t>;</a:t>
                      </a:r>
                    </a:p>
                  </a:txBody>
                  <a:tcPr marL="114300" marR="114300" marT="57150" marB="85725">
                    <a:lnL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517378"/>
                  </a:ext>
                </a:extLst>
              </a:tr>
              <a:tr h="1639978">
                <a:tc>
                  <a:txBody>
                    <a:bodyPr/>
                    <a:lstStyle/>
                    <a:p>
                      <a:pPr fontAlgn="t"/>
                      <a:r>
                        <a:rPr lang="sv-SE" sz="32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</a:rPr>
                        <a:t>re.split(pattern, string, maxsplit=0)</a:t>
                      </a:r>
                    </a:p>
                  </a:txBody>
                  <a:tcPr marL="114300" marR="114300" marT="57150" marB="85725">
                    <a:lnL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3200" dirty="0">
                          <a:effectLst/>
                        </a:rPr>
                        <a:t>Аналог </a:t>
                      </a:r>
                      <a:r>
                        <a:rPr lang="ru-RU" sz="3200" dirty="0" err="1">
                          <a:effectLst/>
                        </a:rPr>
                        <a:t>str.split</a:t>
                      </a:r>
                      <a:r>
                        <a:rPr lang="ru-RU" sz="3200" dirty="0">
                          <a:effectLst/>
                        </a:rPr>
                        <a:t>(), только разделение происходит по подстрокам, подходящим под шаблон </a:t>
                      </a:r>
                      <a:r>
                        <a:rPr lang="ru-RU" sz="3200" dirty="0" err="1">
                          <a:effectLst/>
                        </a:rPr>
                        <a:t>pattern</a:t>
                      </a:r>
                      <a:r>
                        <a:rPr lang="ru-RU" sz="3200" dirty="0">
                          <a:effectLst/>
                        </a:rPr>
                        <a:t>;</a:t>
                      </a:r>
                    </a:p>
                  </a:txBody>
                  <a:tcPr marL="114300" marR="114300" marT="57150" marB="85725">
                    <a:lnL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655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9349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0B6E61-213C-45CB-9D05-1158E017B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E9F03751-5C9E-4CF9-A2E3-B9DB43BAE8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6976546"/>
              </p:ext>
            </p:extLst>
          </p:nvPr>
        </p:nvGraphicFramePr>
        <p:xfrm>
          <a:off x="406400" y="638630"/>
          <a:ext cx="11596914" cy="5697310"/>
        </p:xfrm>
        <a:graphic>
          <a:graphicData uri="http://schemas.openxmlformats.org/drawingml/2006/table">
            <a:tbl>
              <a:tblPr/>
              <a:tblGrid>
                <a:gridCol w="4560130">
                  <a:extLst>
                    <a:ext uri="{9D8B030D-6E8A-4147-A177-3AD203B41FA5}">
                      <a16:colId xmlns:a16="http://schemas.microsoft.com/office/drawing/2014/main" val="3300630643"/>
                    </a:ext>
                  </a:extLst>
                </a:gridCol>
                <a:gridCol w="7036784">
                  <a:extLst>
                    <a:ext uri="{9D8B030D-6E8A-4147-A177-3AD203B41FA5}">
                      <a16:colId xmlns:a16="http://schemas.microsoft.com/office/drawing/2014/main" val="466438584"/>
                    </a:ext>
                  </a:extLst>
                </a:gridCol>
              </a:tblGrid>
              <a:tr h="1724536">
                <a:tc>
                  <a:txBody>
                    <a:bodyPr/>
                    <a:lstStyle/>
                    <a:p>
                      <a:pPr fontAlgn="t"/>
                      <a:r>
                        <a:rPr lang="en-US" sz="3200" dirty="0" err="1">
                          <a:solidFill>
                            <a:schemeClr val="accent1"/>
                          </a:solidFill>
                          <a:effectLst/>
                        </a:rPr>
                        <a:t>re.findall</a:t>
                      </a:r>
                      <a:r>
                        <a:rPr lang="en-US" sz="3200" dirty="0">
                          <a:solidFill>
                            <a:schemeClr val="accent1"/>
                          </a:solidFill>
                          <a:effectLst/>
                        </a:rPr>
                        <a:t>(pattern, string)</a:t>
                      </a:r>
                    </a:p>
                  </a:txBody>
                  <a:tcPr marL="114300" marR="114300" marT="57150" marB="85725">
                    <a:lnL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3200">
                          <a:effectLst/>
                        </a:rPr>
                        <a:t>Найти в строке string все непересекающиеся шаблоны pattern;</a:t>
                      </a:r>
                    </a:p>
                  </a:txBody>
                  <a:tcPr marL="114300" marR="114300" marT="57150" marB="85725">
                    <a:lnL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825383"/>
                  </a:ext>
                </a:extLst>
              </a:tr>
              <a:tr h="2248238">
                <a:tc>
                  <a:txBody>
                    <a:bodyPr/>
                    <a:lstStyle/>
                    <a:p>
                      <a:pPr fontAlgn="t"/>
                      <a:r>
                        <a:rPr lang="en-US" sz="32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re.finditer</a:t>
                      </a:r>
                      <a:r>
                        <a:rPr lang="en-US" sz="3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(pattern, string)</a:t>
                      </a:r>
                    </a:p>
                  </a:txBody>
                  <a:tcPr marL="114300" marR="114300" marT="57150" marB="85725">
                    <a:lnL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3200" dirty="0">
                          <a:effectLst/>
                        </a:rPr>
                        <a:t>Итератор по всем непересекающимся шаблонам </a:t>
                      </a:r>
                      <a:r>
                        <a:rPr lang="ru-RU" sz="3200" dirty="0" err="1">
                          <a:effectLst/>
                        </a:rPr>
                        <a:t>pattern</a:t>
                      </a:r>
                      <a:r>
                        <a:rPr lang="ru-RU" sz="3200" dirty="0">
                          <a:effectLst/>
                        </a:rPr>
                        <a:t> в</a:t>
                      </a:r>
                      <a:r>
                        <a:rPr lang="en-US" sz="3200" dirty="0">
                          <a:effectLst/>
                        </a:rPr>
                        <a:t> c</a:t>
                      </a:r>
                      <a:r>
                        <a:rPr lang="ru-RU" sz="3200" dirty="0">
                          <a:effectLst/>
                        </a:rPr>
                        <a:t>троке </a:t>
                      </a:r>
                      <a:r>
                        <a:rPr lang="ru-RU" sz="3200" dirty="0" err="1">
                          <a:effectLst/>
                        </a:rPr>
                        <a:t>string</a:t>
                      </a:r>
                      <a:r>
                        <a:rPr lang="ru-RU" sz="3200" dirty="0">
                          <a:effectLst/>
                        </a:rPr>
                        <a:t> (выдаются </a:t>
                      </a:r>
                      <a:r>
                        <a:rPr lang="ru-RU" sz="3200" dirty="0" err="1">
                          <a:effectLst/>
                        </a:rPr>
                        <a:t>match</a:t>
                      </a:r>
                      <a:r>
                        <a:rPr lang="ru-RU" sz="3200" dirty="0">
                          <a:effectLst/>
                        </a:rPr>
                        <a:t>-объекты);</a:t>
                      </a:r>
                    </a:p>
                  </a:txBody>
                  <a:tcPr marL="114300" marR="114300" marT="57150" marB="85725">
                    <a:lnL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791183"/>
                  </a:ext>
                </a:extLst>
              </a:tr>
              <a:tr h="1724536">
                <a:tc>
                  <a:txBody>
                    <a:bodyPr/>
                    <a:lstStyle/>
                    <a:p>
                      <a:pPr fontAlgn="t"/>
                      <a:r>
                        <a:rPr lang="en-US" sz="3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re.sub</a:t>
                      </a:r>
                      <a:r>
                        <a:rPr lang="en-US" sz="3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(pattern, </a:t>
                      </a:r>
                      <a:r>
                        <a:rPr lang="en-US" sz="32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repl</a:t>
                      </a:r>
                      <a:r>
                        <a:rPr lang="en-US" sz="3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</a:rPr>
                        <a:t>, string, count=0)</a:t>
                      </a:r>
                    </a:p>
                  </a:txBody>
                  <a:tcPr marL="114300" marR="114300" marT="57150" marB="85725">
                    <a:lnL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3200" dirty="0">
                          <a:effectLst/>
                        </a:rPr>
                        <a:t>Заменить в строке </a:t>
                      </a:r>
                      <a:r>
                        <a:rPr lang="ru-RU" sz="3200" dirty="0" err="1">
                          <a:effectLst/>
                        </a:rPr>
                        <a:t>string</a:t>
                      </a:r>
                      <a:r>
                        <a:rPr lang="ru-RU" sz="3200" dirty="0">
                          <a:effectLst/>
                        </a:rPr>
                        <a:t> все непересекающиеся шаблоны </a:t>
                      </a:r>
                      <a:r>
                        <a:rPr lang="ru-RU" sz="3200" dirty="0" err="1">
                          <a:effectLst/>
                        </a:rPr>
                        <a:t>pattern</a:t>
                      </a:r>
                      <a:r>
                        <a:rPr lang="ru-RU" sz="3200" dirty="0">
                          <a:effectLst/>
                        </a:rPr>
                        <a:t> на </a:t>
                      </a:r>
                      <a:r>
                        <a:rPr lang="ru-RU" sz="3200" dirty="0" err="1">
                          <a:effectLst/>
                        </a:rPr>
                        <a:t>repl</a:t>
                      </a:r>
                      <a:r>
                        <a:rPr lang="ru-RU" sz="3200" dirty="0">
                          <a:effectLst/>
                        </a:rPr>
                        <a:t>;</a:t>
                      </a:r>
                    </a:p>
                  </a:txBody>
                  <a:tcPr marL="114300" marR="114300" marT="57150" marB="85725">
                    <a:lnL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892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491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97C1C-9393-4F6A-9C78-D98FE9E8C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регулярных выражений: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517166-17A9-4835-8A31-5BB1CFA55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ru-RU" sz="3200" dirty="0"/>
              <a:t>Слово </a:t>
            </a:r>
            <a:r>
              <a:rPr lang="en-US" sz="3200" dirty="0"/>
              <a:t>math</a:t>
            </a:r>
            <a:r>
              <a:rPr lang="ru-RU" sz="3200" dirty="0"/>
              <a:t>    </a:t>
            </a:r>
            <a:r>
              <a:rPr lang="en-US" sz="3200" b="1" dirty="0">
                <a:solidFill>
                  <a:srgbClr val="C00000"/>
                </a:solidFill>
              </a:rPr>
              <a:t>math, </a:t>
            </a:r>
            <a:r>
              <a:rPr lang="ru-RU" sz="3200" b="1" dirty="0">
                <a:solidFill>
                  <a:srgbClr val="C00000"/>
                </a:solidFill>
              </a:rPr>
              <a:t>«</a:t>
            </a:r>
            <a:r>
              <a:rPr lang="en-US" sz="3200" b="1" dirty="0">
                <a:solidFill>
                  <a:srgbClr val="C00000"/>
                </a:solidFill>
              </a:rPr>
              <a:t>math</a:t>
            </a:r>
            <a:r>
              <a:rPr lang="ru-RU" sz="3200" b="1" dirty="0">
                <a:solidFill>
                  <a:srgbClr val="C00000"/>
                </a:solidFill>
              </a:rPr>
              <a:t>»</a:t>
            </a:r>
          </a:p>
          <a:p>
            <a:pPr marL="514350" indent="-514350">
              <a:buAutoNum type="arabicParenR"/>
            </a:pPr>
            <a:r>
              <a:rPr lang="ru-RU" sz="3200" dirty="0"/>
              <a:t>Номер телефона в формате </a:t>
            </a:r>
            <a:r>
              <a:rPr lang="en-US" sz="3200" dirty="0"/>
              <a:t>xxx-xx-xx</a:t>
            </a:r>
            <a:r>
              <a:rPr lang="ru-RU" sz="3200" dirty="0"/>
              <a:t> </a:t>
            </a:r>
          </a:p>
          <a:p>
            <a:pPr marL="0" indent="0">
              <a:buNone/>
            </a:pPr>
            <a:r>
              <a:rPr lang="ru-RU" sz="3200" dirty="0"/>
              <a:t> </a:t>
            </a:r>
            <a:r>
              <a:rPr lang="en-US" sz="3200" b="1" dirty="0">
                <a:solidFill>
                  <a:srgbClr val="C00000"/>
                </a:solidFill>
              </a:rPr>
              <a:t>@"\d\d\d-\d\d-\d\d" </a:t>
            </a:r>
            <a:r>
              <a:rPr lang="ru-RU" sz="3200" b="1" dirty="0">
                <a:solidFill>
                  <a:srgbClr val="C00000"/>
                </a:solidFill>
              </a:rPr>
              <a:t>или </a:t>
            </a:r>
            <a:r>
              <a:rPr lang="en-US" sz="3200" b="1" dirty="0">
                <a:solidFill>
                  <a:srgbClr val="C00000"/>
                </a:solidFill>
              </a:rPr>
              <a:t>r</a:t>
            </a:r>
            <a:r>
              <a:rPr lang="ru-RU" sz="3200" b="1" dirty="0">
                <a:solidFill>
                  <a:srgbClr val="C00000"/>
                </a:solidFill>
              </a:rPr>
              <a:t>"\</a:t>
            </a:r>
            <a:r>
              <a:rPr lang="en-US" sz="3200" b="1" dirty="0">
                <a:solidFill>
                  <a:srgbClr val="C00000"/>
                </a:solidFill>
              </a:rPr>
              <a:t>d{3}(-\d\d){2}</a:t>
            </a:r>
            <a:endParaRPr lang="ru-RU" sz="32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ru-RU" sz="3200" b="1" dirty="0"/>
              <a:t>3)</a:t>
            </a:r>
            <a:r>
              <a:rPr lang="ru-RU" sz="3200" dirty="0"/>
              <a:t> Номер автомобиля - </a:t>
            </a:r>
            <a:r>
              <a:rPr lang="en-US" sz="3200" b="1" dirty="0">
                <a:solidFill>
                  <a:srgbClr val="C00000"/>
                </a:solidFill>
              </a:rPr>
              <a:t>r</a:t>
            </a:r>
            <a:r>
              <a:rPr lang="ru-RU" sz="3200" b="1" dirty="0">
                <a:solidFill>
                  <a:srgbClr val="C00000"/>
                </a:solidFill>
              </a:rPr>
              <a:t>"[A-Z]\d{3}[A-Z]{2}\d{2,3}RUS"</a:t>
            </a:r>
          </a:p>
          <a:p>
            <a:pPr marL="0" indent="0">
              <a:buNone/>
            </a:pPr>
            <a:endParaRPr lang="ru-RU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8184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EFF38D-CB52-4645-92BE-709AA381A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15255" cy="1325563"/>
          </a:xfrm>
        </p:spPr>
        <p:txBody>
          <a:bodyPr>
            <a:normAutofit/>
          </a:bodyPr>
          <a:lstStyle/>
          <a:p>
            <a:r>
              <a:rPr lang="ru-RU" sz="3200" b="1" dirty="0"/>
              <a:t>Задание</a:t>
            </a:r>
            <a:r>
              <a:rPr lang="ru-RU" sz="3200" dirty="0"/>
              <a:t>. Запишите регулярное выражение, соответствующее: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67414B-2172-494E-BAA5-DDDA8F27F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690687"/>
            <a:ext cx="10733314" cy="4682404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дате в формате </a:t>
            </a:r>
            <a:r>
              <a:rPr lang="ru-RU" dirty="0" err="1"/>
              <a:t>дд.мм.гг</a:t>
            </a:r>
            <a:r>
              <a:rPr lang="ru-RU" dirty="0"/>
              <a:t> или </a:t>
            </a:r>
            <a:r>
              <a:rPr lang="ru-RU" dirty="0" err="1"/>
              <a:t>дд.мм.гггг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времени в формате </a:t>
            </a:r>
            <a:r>
              <a:rPr lang="ru-RU" dirty="0" err="1"/>
              <a:t>чч.мм</a:t>
            </a:r>
            <a:r>
              <a:rPr lang="ru-RU" dirty="0"/>
              <a:t> или </a:t>
            </a:r>
            <a:r>
              <a:rPr lang="ru-RU" dirty="0" err="1"/>
              <a:t>чч:мм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целому числу (со знаком и без)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вещественному числу (со знаком и без, с дробной частью и без, с целой частью и без)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altLang="ru-RU" dirty="0">
                <a:solidFill>
                  <a:srgbClr val="222222"/>
                </a:solidFill>
                <a:latin typeface="-apple-system"/>
              </a:rPr>
              <a:t>Найдите все натуральные числа (возможно, окружённые буквами);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altLang="ru-RU" dirty="0">
                <a:solidFill>
                  <a:srgbClr val="222222"/>
                </a:solidFill>
                <a:latin typeface="-apple-system"/>
              </a:rPr>
              <a:t>Найдите все «слова», написанные капсом (то есть строго заглавными), возможно внутри настоящих слов (</a:t>
            </a:r>
            <a:r>
              <a:rPr lang="ru-RU" altLang="ru-RU" dirty="0" err="1">
                <a:solidFill>
                  <a:srgbClr val="222222"/>
                </a:solidFill>
                <a:latin typeface="-apple-system"/>
              </a:rPr>
              <a:t>ааа</a:t>
            </a:r>
            <a:r>
              <a:rPr lang="ru-RU" altLang="ru-RU" u="sng" dirty="0" err="1">
                <a:solidFill>
                  <a:srgbClr val="007D5B"/>
                </a:solidFill>
                <a:latin typeface="-apple-system"/>
              </a:rPr>
              <a:t>БББ</a:t>
            </a:r>
            <a:r>
              <a:rPr lang="ru-RU" altLang="ru-RU" dirty="0" err="1">
                <a:solidFill>
                  <a:srgbClr val="222222"/>
                </a:solidFill>
                <a:latin typeface="-apple-system"/>
              </a:rPr>
              <a:t>ввв</a:t>
            </a:r>
            <a:r>
              <a:rPr lang="ru-RU" altLang="ru-RU" dirty="0">
                <a:solidFill>
                  <a:srgbClr val="222222"/>
                </a:solidFill>
                <a:latin typeface="-apple-system"/>
              </a:rPr>
              <a:t>);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altLang="ru-RU" dirty="0">
                <a:solidFill>
                  <a:srgbClr val="222222"/>
                </a:solidFill>
                <a:latin typeface="-apple-system"/>
              </a:rPr>
              <a:t>Найдите слова, в которых есть русская буква, а когда-нибудь за ней цифра;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altLang="ru-RU" dirty="0">
                <a:solidFill>
                  <a:srgbClr val="222222"/>
                </a:solidFill>
                <a:latin typeface="-apple-system"/>
              </a:rPr>
              <a:t>Найдите все слова, начинающиеся с русской или латинской большой буквы (</a:t>
            </a:r>
            <a:r>
              <a:rPr lang="ru-RU" altLang="ru-RU" dirty="0">
                <a:solidFill>
                  <a:srgbClr val="222222"/>
                </a:solidFill>
                <a:latin typeface="Menlo"/>
              </a:rPr>
              <a:t>\b</a:t>
            </a:r>
            <a:r>
              <a:rPr lang="ru-RU" altLang="ru-RU" dirty="0">
                <a:solidFill>
                  <a:srgbClr val="222222"/>
                </a:solidFill>
                <a:latin typeface="-apple-system"/>
              </a:rPr>
              <a:t> — граница слова);</a:t>
            </a:r>
          </a:p>
          <a:p>
            <a:pPr marL="514350" lvl="0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ru-RU" altLang="ru-RU" dirty="0">
                <a:solidFill>
                  <a:srgbClr val="222222"/>
                </a:solidFill>
                <a:latin typeface="-apple-system"/>
              </a:rPr>
              <a:t>Найдите слова, которые начинаются на гласную (</a:t>
            </a:r>
            <a:r>
              <a:rPr lang="ru-RU" altLang="ru-RU" dirty="0">
                <a:solidFill>
                  <a:srgbClr val="222222"/>
                </a:solidFill>
                <a:latin typeface="Menlo"/>
              </a:rPr>
              <a:t>\b</a:t>
            </a:r>
            <a:r>
              <a:rPr lang="ru-RU" altLang="ru-RU" dirty="0">
                <a:solidFill>
                  <a:srgbClr val="222222"/>
                </a:solidFill>
                <a:latin typeface="-apple-system"/>
              </a:rPr>
              <a:t> — граница </a:t>
            </a:r>
            <a:r>
              <a:rPr lang="ru-RU" altLang="ru-RU">
                <a:solidFill>
                  <a:srgbClr val="222222"/>
                </a:solidFill>
                <a:latin typeface="-apple-system"/>
              </a:rPr>
              <a:t>слова).</a:t>
            </a:r>
            <a:endParaRPr lang="ru-RU" altLang="ru-RU" dirty="0">
              <a:solidFill>
                <a:srgbClr val="222222"/>
              </a:solidFill>
              <a:latin typeface="-apple-system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00793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2383C0-E192-402D-9ACE-9A24D0C6A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5926C0-57AA-44FC-B4FF-F5EB694C5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match = </a:t>
            </a:r>
            <a:r>
              <a:rPr lang="en-US" dirty="0" err="1"/>
              <a:t>re.findall</a:t>
            </a:r>
            <a:r>
              <a:rPr lang="en-US" dirty="0"/>
              <a:t>(r'[0-9]+\w', r'</a:t>
            </a:r>
            <a:r>
              <a:rPr lang="ru-RU" dirty="0"/>
              <a:t>Телефон 123-12-12') </a:t>
            </a:r>
          </a:p>
        </p:txBody>
      </p:sp>
    </p:spTree>
    <p:extLst>
      <p:ext uri="{BB962C8B-B14F-4D97-AF65-F5344CB8AC3E}">
        <p14:creationId xmlns:p14="http://schemas.microsoft.com/office/powerpoint/2010/main" val="1996799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473</TotalTime>
  <Words>1313</Words>
  <Application>Microsoft Office PowerPoint</Application>
  <PresentationFormat>Широкоэкранный</PresentationFormat>
  <Paragraphs>241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5" baseType="lpstr">
      <vt:lpstr>-apple-system</vt:lpstr>
      <vt:lpstr>Arial</vt:lpstr>
      <vt:lpstr>Calibri</vt:lpstr>
      <vt:lpstr>Calibri Light</vt:lpstr>
      <vt:lpstr>Menlo</vt:lpstr>
      <vt:lpstr>Symbol</vt:lpstr>
      <vt:lpstr>Wingdings</vt:lpstr>
      <vt:lpstr>Тема Office</vt:lpstr>
      <vt:lpstr>Регулярные выражения</vt:lpstr>
      <vt:lpstr>Литература</vt:lpstr>
      <vt:lpstr>Презентация PowerPoint</vt:lpstr>
      <vt:lpstr>Проблема!</vt:lpstr>
      <vt:lpstr>Регулярное выражение – что это?</vt:lpstr>
      <vt:lpstr>Презентация PowerPoint</vt:lpstr>
      <vt:lpstr>Регулярное выражение – для чего?</vt:lpstr>
      <vt:lpstr>Регулярное выражение – для чего?</vt:lpstr>
      <vt:lpstr>Спецсимволы</vt:lpstr>
      <vt:lpstr>Осторожно - регулярные выражения!</vt:lpstr>
      <vt:lpstr>Регулярные выражения: как?</vt:lpstr>
      <vt:lpstr>Наиболее употребительные метасимволы:</vt:lpstr>
      <vt:lpstr>Примеры</vt:lpstr>
      <vt:lpstr>управляющие символы </vt:lpstr>
      <vt:lpstr>character classes </vt:lpstr>
      <vt:lpstr>Примеры</vt:lpstr>
      <vt:lpstr>Уточняющие символы</vt:lpstr>
      <vt:lpstr>Повторители или квантификаторы </vt:lpstr>
      <vt:lpstr>Про квантификаторы</vt:lpstr>
      <vt:lpstr>Презентация PowerPoint</vt:lpstr>
      <vt:lpstr>Презентация PowerPoint</vt:lpstr>
      <vt:lpstr>pattern, string</vt:lpstr>
      <vt:lpstr>Презентация PowerPoint</vt:lpstr>
      <vt:lpstr>Презентация PowerPoint</vt:lpstr>
      <vt:lpstr>Примеры регулярных выражений:</vt:lpstr>
      <vt:lpstr>Задание. Запишите регулярное выражение, соответствующее: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Регулярные выражения</dc:title>
  <dc:creator>Наима Мерданова</dc:creator>
  <cp:lastModifiedBy>Наима Мерданова</cp:lastModifiedBy>
  <cp:revision>39</cp:revision>
  <dcterms:created xsi:type="dcterms:W3CDTF">2018-04-27T02:02:47Z</dcterms:created>
  <dcterms:modified xsi:type="dcterms:W3CDTF">2019-10-05T09:37:19Z</dcterms:modified>
</cp:coreProperties>
</file>